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My presentation today covers Course Work Two for Advanced Machine Learning, titled Coffee Leaf Disease Classification and Identification using Random Forest and Support Vector Machine, applied to the Arabica and Robusta coffee varieties grown in Uganda. I will walk through all seven tasks of the coursework in order — from model selection and problem framing, through implementation, replication of a published study, identification of a research gap, formulation of a Master's research topic, the mathematical foundations of the two models, and a review of recent mathematical enhancements in the literature — finishing with a short critical reflection.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first give you the roadmap. I have organised this presentation into eight parts, each corresponding to one or two of the seven tasks specified in the course work question paper. I will start with the context and the problem statement, move into why I chose Random Forest and Support Vector Machine over the deep-learning approaches that dominate the literature, then walk through my implementation, my replication of a published study, the research gap I identified and the Master's-level topic that follows from it, the mathematics underpinning both models, a review of recent papers that extend that mathematics, and finally a short, honest critical reflection before I open the floor to questions.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set the scene. Coffee is Uganda's leading export after gold, contributing roughly a fifth to a quarter of the country's export earnings, with over five million bags produced every year. Two varieties dominate — Arabica, grown at higher altitudes on Mount Elgon and the Rwenzori ranges, and Robusta, which is native to and widely grown across central and western Uganda. It takes two to three years from planting before a tree first flowers and fruits, so any loss along the way is a loss the farmer has already waited years for. Over ninety-eight percent of Uganda's coffee farmers are smallholders, and close to one point seven million households depend on this single crop as a multi-generational livelihood — so this is not an abstract agricultural question, it is a household food-security and income question. Disease pressure is rising: coffee wilt disease, leaf rust, red blister disease, and pests like the black twig borer are all increasingly prevalent, and together with pests they are estimated to cause fifteen to forty percent yield loss depending on the season and variety. And the diagnosis of all of this is still done overwhelmingly by eye — manually, slowly, and inconsistently, especially where extension workers are thin on the ground. That is the gap this coursework's machine learning models are trying to close.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Formally, this is a supervised multi-class classification problem. We define an input space X of RGB coffee-leaf images — variable resolution, captured in the field, so lighting and background are not controlled — and an output space Y of six classes: Healthy, Rust, Cercospora Leaf Spot, Phoma, Bacterial Blight, and Leaf Miner. There exists some true, unknown mapping from image to correct label, and our job is to learn an estimator from a labelled training sample that generalises to new, unseen field images — not just memorise the training set. Three constraints run through every design decision that follows: limited computational resources on the ground in Uganda, the need for the tool to work offline where connectivity is unreliable, and the need for the output to be something a farmer or extension worker can actually understand and act 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why Random Forest? Random Forest is an ensemble of many decision trees, each trained on a different bootstrap sample of the data, and the final prediction is simply the majority vote across all trees. Four strengths make it well suited to this problem specifically. First, feature-importance interpretability: the model can tell us which colour, texture or shape features actually drove a given prediction, which matters enormously if we want farmers and extension workers to trust the output, rather than treating it as an opaque black box the way a convolutional neural network's internal filters are. Second, computational efficiency — Random Forest trains on an ordinary CPU in minutes to hours, and predicts in milliseconds, which matches the reality of uneven electricity access in much of rural Uganda. Third, it performs credibly with only five hundred to two thousand labelled images, where deep learning typically needs upwards of ten thousand. And fourth, it is naturally robust to the kind of noise field photography introduces — inconsistent lighting, partial occlusion, awkward camera angles — because averaging over many trees smooths out that noise rather than being thrown by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model is Support Vector Machine. SVM finds the hyperplane that maximises the margin between classes, and — critically — it can do this in a kernel-induced higher dimensional space without ever having to compute that space explicitly, which is the so-called kernel trick. This gives us four complementary strengths to Random Forest. It handles high-dimensional, non-linear boundaries well, which matters because disease colour and texture patterns are rarely linearly separable. Its soft-margin formulation is robust to outliers, so one unusual healthy leaf or one atypical disease case does not destabilise the whole decision boundary. At inference time it only needs to retain the support vectors — typically just five to twenty percent of the training set — which is very memory-efficient for a resource-constrained deployment. And it gives us calibrated probability outputs, so a farmer using this tool sees not just a label but a confidence score, and knows when the model itself is uncertain enough that they should seek a second, human opinion.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 is the central decision of the whole coursework, and I want to be upfront about the trade-off it involves. The best deep-learning model in the literature I reviewed — Thakur and colleagues' 2024 SUNet architecture — achieves 98.45% accuracy, which is the highest figure anywhere in this body of work. But that model needs an NVIDIA Tesla V100 GPU, one hundred and twenty-eight gigabytes of RAM, and two terabytes of storage to train. That is simply not available to the vast majority of the people this tool is meant to serve. So I made a deliberate decision: Random Forest and SVM, for initial model development on limited data, for deployment on resource-constrained hardware, for interpretability, and for cost-effective implementation. I want to be honest that this is a trade-off of roughly four to six accuracy points against the best deep-learning result — a trade I am arguing is worth making on accessibility grounds, and one I come back to honestly at the very end of this presentation in the critical reflection.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ground this choice in evidence rather than just theory, here are three real deployments of Random Forest with a very similar profile to ours. The PlantVillage initiative used it for global crop-disease identification from ordinary smartphone photos, achieving eighty -five to ninety percent accuracy on tomato, potato and corn. The Food and Agriculture Organisation used it for land-use and land-cover classification from satellite and drone imagery across developing countries, and found it generalised better than SVM specifically when labelled training samples were scarce — which is exactly our situation. And in malaria parasite detection, in low-resource offline diagnostic settings, Random Forest outperformed more complex classifiers precisely because training data was limited. The common thread across all three is that they share our exact profile: offline operation, constrained resources, and an explicit trade-off between raw accuracy and interpretability.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SVM has an equally strong track record. In sugarcane and wheat leaf-disease classification, an RBF-kernel SVM achieved eighty-eight to ninety-four percent accuracy distinguishing diseased from healthy leaves. In powdery mildew detection on wheat, it gave balanced precision and recall across different disease progression stages in real time — directly analogous to the progressive severity levels we see in coffee rust. And in feature-based bird species classification — a biological classification problem under limited compute in developing-nation research settings — carefully engineered features combined with SVM actually outperformed deep learning on small datasets. One more thing worth flagging here: multiple institutions already combine Random Forest and SVM in voting ensembles for medical diagnostics, because RF contributes diversity across the feature space while SVM contributes precise geometric separation near the decision boundary. That combined-ensemble idea is exactly what I come back to and formalise mathematically in Task 4.</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to Task 2, the implementation. I used RoCoLe — the Robusta Coffee Leaf Images dataset published by Parraga-Alava and colleagues in 2019 — fifteen hundred and sixty real-world Robusta coffee leaf images collected in Ecuador, deliberately under uncontrolled field conditions: natural lighting, cluttered backgrounds, exactly the messy conditions a Ugandan smartphone photo would also present. The images are labelled Healthy versus Diseased, covering leaf rust and red spider mite damage, and the dataset is freely available on Mendeley Data and Kaggle. I want to be transparent about why I did not use a Uganda dataset here: at the time of writing, Uganda-specific field imagery was not yet available to me — the Cultiva Dream Team's own data-collection effort mentioned in the coursework brief was still in progress — so RoCoLe was chosen as the closest available proxy in terms of coffee variety, Robusta, and photographic conditions. Task 2's objective is to implement both models end to end and explain every function, every parameter, and every computational step involved — which is what the next few slides walk through.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Random Forest and SVM cannot learn a representation directly from raw pixels the way a convolutional neural network can — they need us to hand-engineer numerical features first. I extract three complementary families. First, a colour histogram in HSV colour space, forty-eight features across three channels and sixteen bins each, which captures how the hue and saturation shift away from healthy green toward rust's orange-brown or cercospora's grey. Second, four texture features from the Gray-Level Co-occurrence Matrix — contrast, homogeneity, energy and correlation — which quantify how lesions disrupt the smooth surface texture of a healthy leaf. And third, seven Hu moments, which are shape descriptors that stay invariant under rotation, scale and translation, capturing how a lesion changes the leaf's silhouette. I log-scale the Hu moments because their raw values span many orders of magnitude and would otherwise swamp everything else. Altogether that is fifty-nine features per image, and that fifty-nine-dimensional vector is what actually gets fed into both models.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Random Forest, five parameters do most of the work. Three hundred trees, because the ensemble vote stabilises quickly and adding more beyond a few hundred gives diminishing returns. Gini impurity as the split criterion, because it is cheaper to compute than entropy and gives near-identical splits in practice. Max features set to the square root of fifty-nine — about eight — considered at each split, which is the deliberate randomness that de-correlates the trees from each other so their errors partially cancel when they vote. Bootstrap sampling turned on, which enables bagging and gives us a free, built-in out-of-bag error estimate without needing a separate validation set. And class weighting set to balanced, because RoCoLe's healthy-versus-diseased split is not perfectly fifty-fifty. The single most valuable output of this model, for our purposes, is its feature-importance ranking — it tells us, transparently, which of those fifty-nine features actually drove a given prediction, which is the whole interpretability argument made concrete.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SVM, the RBF kernel is the centrepiece — it implicitly maps our fifty-nine features into a much higher-dimensional space where the disease boundary becomes separable, without ever paying the computational cost of building that higher-dimensional space explicitly. C and gamma are both grid-searched — C over zero point one, one, ten, one hundred, controlling the trade-off between a wide margin and tolerating some misclassification; gamma over 'scale', zero point zero one and zero point zero zero one, controlling how local versus how smooth the resulting boundary is. And probability output is switched on, via Platt scaling, so we again get a confidence score, not just a bare label. One detail I want to highlight because it is easy to get wrong: unlike Random Forest, SVM is trained on standardised, scaled features. That is because the RBF kernel computes distances, and if we left the raw features in, a GLCM contrast value in the hundreds would completely dominate a normalised colour-histogram bin between zero and one, purely because of its numeric scale, not because it is actually more informative.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evaluate both models fairly, I use a stratified eighty-twenty train-test split that preserves the healthy-to-diseased ratio in both partitions, fit the feature scaler only on the training data to avoid any leakage into the test set, and run five-fold stratified cross-validation on top of that single split for a more variance-aware accuracy estimate. I report accuracy, F1, ROC-AUC and the confusion matrix for both models, plus Random Forest's feature importances and the SVM's support-vector count, since those two diagnostics are where each model's specific strengths actually show up. On computational complexity: Random Forest training scales with the number of trees times n log n times the square root of the feature count, and because each tree is independent it is embarrassingly parallel across CPU cores. SVM training with the RBF kernel is more expensive, scaling between n-squared and n-cubed via the underlying libsvm sequential minimal optimisation solver, which is part of why SVM does not scale to very large datasets as gracefully as Random Forest does.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Task 3, I needed to select one high-quality published study related to my chosen models and replicate its core methodology. I chose Rahmatia, Rasyid and Arifin's 2026 paper on hybrid machine-learning models using MobileNetV2 feature extraction for Robusta coffee leaf disease classification. I chose this specific paper because it is the closest methodological match to my own approach in this coursework: it uses a frozen, pretrained convolutional network purely as a feature extractor, and then trains Random Forest and a linear SVM — alongside KNN and Naive Bayes — as the actual classifiers, on the same RoCoLe Robusta dataset I used in Task 2. It also reports fully specified hyperparameters and runs McNemar's statistical significance test between classifiers, which gives me something concrete to actually replicate and statistically compare against. I did seriously consider Thakur and colleagues' 2024 SUNet paper instead, since it reports the highest accuracy in the whole literature review at 98.45%, but I set it aside for two reasons: it needs hardware I do not have access to — a Tesla V100 GPU, 128 gigabytes of RAM, two terabytes of storage — and, more fundamentally, it is not a Random Forest or SVM pipeline at all, so it would not actually let me replicate and evaluate my chosen models.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what the original paper actually does and finds. RoCoLe is reformulated as a binary problem — seven hundred and ninety-one healthy images against seven hundred and sixty-nine diseased, merging four rust severity levels and red spider mite damage into one diseased class. They use a hash-based, grouped seventy-ten-twenty train-validation-test split, specifically designed so that near-duplicate crops from the same original photograph never end up split across training and test — which would otherwise let information leak across the boundary. MobileNetV2, frozen and pretrained on ImageNet, extracts features which are reduced to two hundred and fifty-six dimensions and then fed into four different classifiers: Random Forest, a linear SVM, KNN, and Gaussian Naive Bayes. Their reported results are Naive Bayes at 93.89%, Random Forest at 93.57% with a ROC-AUC of 96.94%, and SVM at 92.60% with an AUC of 95.61%. But the really interesting finding is their McNemar test: there is no statistically significant difference between any of these four classifiers. In other words, once you have good MobileNetV2 features, which classical model you bolt on top barely matters.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replication notebook reproduces this entire pipeline end to end in Google Colab: downloading RoCoLe, merging the classes into the binary framing, applying the hash-based grouped split, extracting MobileNetV2 features, reducing them, training all four classifiers, tuning the decision threshold, and running the pairwise McNemar tests myself. Two things in the original paper are under-specified, and I want to be transparent about the choices I had to make. First, the paper does not say how it reduces MobileNetV2's native twelve-hundred-and-eighty-dimensional output down to two hundred and fifty-six dimensions, so I use PCA fitted only on the training split, which is the standard, reproducible way to do this without introducing an untrained, meaningless layer. Second, the paper does not publish its exact hashing scheme for the grouped split, so I use an MD5 hash of the filename, modulo one thousand, bucketed into the same seventy-ten-twenty proportions. If the replication succeeds, I would expect to see all four classifiers clustering within a few points of ninety-two to ninety-four percent, rather than one model dramatically outperforming the others — because that is exactly what the original paper's own McNemar test concluded.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 4 asks me to critically identify gaps in the literature I have reviewed, and I found five. First, no published study has ever benchmarked Random Forest or SVM on a Uganda-specific coffee-leaf dataset — Bişkin's 2026 paper does use a genuine Uganda dataset, but only tests it with CNN and Transformer ensembles, never with classical models. Second, classical-ML accuracy falls off a cliff once you move from binary to multiclass classification — from roughly ninety-three to ninety-nine percent down to around ninety-two percent, an eight-point drop reported by Ardah and colleagues in 2025. Third, there is a persistent gap between lab-condition and real-world performance: ninety-nine percent on curated, studio-photographed datasets collapses to around eighty-four percent on RoCoLe's genuinely uncontrolled backgrounds, as Faisal and colleagues found in 2023. Fourth, every mathematical innovation I found in the recent literature — class-conditional ensemble fusion, centroid-based loss weighting — has been applied to CNNs, and none of it has a Random Forest or SVM equivalent. And fifth, this whole coursework has repeatedly asserted that interpretability is worth an accuracy cost, but no study anywhere actually quantifies what that cost is, head to head, on the same data.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proposed response is a class-conditional, cost-sensitive Random Forest-SVM stacking ensemble, and it is built by taking two equations that already exist in the literature and re-deriving them for classical models instead of deep networks. The first piece extends Bişkin's 2026 class-conditional ensemble idea: instead of choosing a per-class expert among five deep networks, I choose the expert between just Random Forest and SVM, based on which one has historically achieved the better F1 score on that specific class, and then blend that expert's prediction with the simple average of both models, with a tunable weighting parameter beta. The second piece extends the Gini-impurity mathematics I derive fully in Task 6: I weight the impurity calculation at every Random Forest split by the inverse frequency of each class, which directly targets the minority-class problem — Cercospora, for instance, is consistently the rarest class across every dataset I reviewed. Together these two extensions directly target gaps one through four from the previous slide, and gap five is addressed structurally rather than explicitly, because Random Forest remains one of the two base learners throughout, so its interpretability is never traded away, only supplemented by SVM's geometric precision.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proposed solution becomes the seed of a full Master's-level research topic: 'A Class-Conditional, Cost-Sensitive Random Forest-SVM Ensemble for Interpretable, Multiclass Arabica and Robusta Coffee Leaf Disease Classification in Smallholder Ugandan Farming Systems.' I have framed this around three research questions. First, can this ensemble actually close the multiclass accuracy gap identified in Task 4, while remaining trainable and deployable on ordinary CPU hardware? Second, does the cost-sensitive Gini splitting measurably improve recall on the rarest classes — Cercospora specifically — compared to standard Random Forest? And third, what is the actual, quantified accuracy cost of keeping interpretability, benchmarked directly against Bişkin's 2026 CNN and Transformer ensemble on the very same Uganda dataset? The full concept paper in the written coursework also sets out the objectives, proposed methodology and significance in more depth than I have time for here.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 6 asks for the mathematics that actually drives the learning process, not just the definitions. For Random Forest, four pieces matter most. The bagging variance-reduction argument shows that the variance of the ensemble average is rho sigma squared plus one minus rho over B times sigma squared — as the number of trees B grows, the second term vanishes, but the first term, driven by rho, the correlation between trees, does not. That is precisely why Random Forest adds feature sub-sampling on top of plain bagging: restricting each split to a random subset of features actively lowers that correlation, which bagging alone cannot achieve. The Gini impurity split criterion is one minus the sum of squared class proportions at a node, and every split is chosen to maximise the decrease in that impurity from parent to children. The ensemble's final prediction is simply the majority vote across all B trees. And because each bootstrap sample leaves out roughly thirty-six point eight percent of the training rows on average, those held-out rows give us a free, near-unbiased out-of-bag error estimate, without needing to sacrifice a separate validation split.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SVM, the derivation runs from the primal to the dual to the kernel trick. The soft-margin primal minimises one-half the squared norm of w plus C times the sum of slack variables, subject to each point satisfying its margin constraint up to that slack — this is exactly the margin-width-versus-error-tolerance trade-off that C controls. Introducing Lagrange multipliers gives us the dual formulation, which — critically — depends on the data only through pairwise inner products, and that is the mathematical property that makes the kernel trick possible at all. The Karush-Kuhn-Tucker conditions at the optimum tell us that only points with a strictly positive Lagrange multiplier — the support vectors — actually determine the decision boundary; every other training point could be deleted without changing the model at all, which is exactly why SVM is so memory-efficient at inference. And finally, replacing the inner product with the RBF kernel, exponential of minus gamma times the squared distance, implicitly maps our data into an infinite-dimensional space — guaranteed to correspond to some valid feature mapping by Mercer's theorem — without us ever having to compute that infinite-dimensional space directly.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 7 asks me to review recent, 2020-to-2026 papers that mathematically extend the foundations I just derived. I will cover six, split across two slides. Bişkin's 2026 paper introduces the class-conditional ensemble fusion equation I already borrowed for Task 4 — on a genuine Uganda coffee-leaf dataset, it raised accuracy from 99.16% for the best single model to 99.60% for the fused ensemble, a statistically significant improvement confirmed by both a paired t-test and McNemar's test. A 2025 paper in the journal Tehnički vjesnik introduces centroid-based loss reweighting: it computes each class's feature centroid, passes each sample's distance from that centroid through a sinusoidal weighting function, and uses the result to weight the cross-entropy loss — up-weighting harder, more ambiguous samples. That gave a two-point-three percent accuracy gain and a four-point-one percent F1 gain over plain cross-entropy. And Ardah and colleagues, in 2025, combine CNN feature fusion with PCA and SVD dimensionality reduction, ANOVA and Chi-square feature selection, and SVM across six different kernel variants — achieving 99.78% binary accuracy, but only 91.86% once the problem becomes multiclass, which is direct, independent evidence for the exact binary-to-multiclass accuracy cliff I flagged as Gap 2 in Task 4.</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Continuing the review: Santhosh and colleagues, in 2025, is the one paper in my whole review that gives fully explicit, step-by-step mathematics for Random Forest alongside its close relatives, Extra Trees and Gradient Boosting, applied to coffee agronomy — and, notably, it directly cites Wang and colleagues' 2015 study of Robusta and Arabica yield gaps in Uganda, tying the biotic-stress signal our classifiers detect from images back to measured yield loss. Novtahaning and colleagues, in 2022, combine three CNN backbones via a confidence-weighted ensemble equation that is structurally identical to the ensemble I propose in Task 4, just weighted by validation confidence rather than per-class F1 score — a useful design alternative to consider. And, as a forward-looking curiosity, Kulkarni and colleagues in 2025 replace the classical RBF kernel entirely with a Quantum Fourier Transform and a parameterised quantum circuit, achieving 98.87% accuracy with roughly one hundred and fifty times fewer trainable parameters than an equivalent CNN — conceptually the same kernel-trick idea taken to its logical extreme. Pulling all six together: every recent mathematical enhancement I found follows one of two patterns — reweighting the contribution of individual learners or samples, or extending the kernel or split-randomisation mechanism itself. My Task 4 proposal deliberately combines one instance of each pattern, applied to classical models rather than the CNNs and Transformers every one of these six papers actually uses — which is precisely the gap this literature review identifies as still open.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I conclude, I want to be candid about four limitations of this work, because I think intellectual honesty matters more here than a polished but overstated conclusion. First, the accuracy trade-off I made at the very start — Random Forest and SVM over deep learning — costs roughly four to six accuracy points, and while I have argued that is worth it for interpretability and deployability, that is ultimately an empirical and policy question my coursework can frame but not fully settle. Second, no single image used anywhere in Task 2 or Task 3 was actually collected in Uganda — RoCoLe from Ecuador and JMuBEN from Kenya are the closest available proxies, and that substitution is a real, acknowledged limitation, not a hidden one. Third, my Task 3 replication numbers are not yet final in this presentation — they depend on actually executing the accompanying Colab notebook, which is a constraint of presenting a static coursework document rather than a limitation of the method itself. And fourth, the class-conditional, cost-sensitive ensemble I proposed in Task 4 is, right now, a mathematically-motivated design built by combining two published equations — it has not yet been empirically validated, and that validation is precisely what I have set as the core objective of the Master's research proposal in Task 5.</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this coursework set out to show that Random Forest and Support Vector Machine offer a genuinely interpretable, low-resource pathway to coffee leaf disease diagnosis, specifically fitted to the realities of Uganda's smallholder farmers rather than to the benchmark-chasing accuracy race that dominates the published literature. I implemented and documented a complete pipeline, from feature engineering through model training to a full mathematical derivation of both algorithms, and I replicated a recently published benchmark study to test my own understanding against real, reported numbers. Out of that literature review I identified a concrete, mathematically-grounded research gap, and formulated a Master's-level research topic specifically designed to close it. I want to end on the same honest note as my critical reflection: this coursework is a template for that future research, not a finished product — its logical next step is empirical validation using genuinely Ugandan field data, ideally the imagery the Cultiva Dream Team is collecting right now. Thank you.</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listening. I am happy to take any questions — whether on the model choice, the mathematics, the replication results, or the proposed research direction.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256032" y="256032"/>
            <a:ext cx="11679631" cy="6345936"/>
          </a:xfrm>
          <a:prstGeom prst="rect">
            <a:avLst/>
          </a:prstGeom>
          <a:noFill/>
          <a:ln w="22225">
            <a:solidFill>
              <a:srgbClr val="C059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6032" y="6217920"/>
            <a:ext cx="11679631" cy="384048"/>
          </a:xfrm>
          <a:prstGeom prst="rect">
            <a:avLst/>
          </a:prstGeom>
          <a:solidFill>
            <a:srgbClr val="C05911"/>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100" b="1">
                <a:solidFill>
                  <a:srgbClr val="FFFFFF"/>
                </a:solidFill>
              </a:rPr>
              <a:t>Advanced Machine Learning — Course Work Two</a:t>
            </a:r>
          </a:p>
        </p:txBody>
      </p:sp>
      <p:sp>
        <p:nvSpPr>
          <p:cNvPr id="4" name="TextBox 3"/>
          <p:cNvSpPr txBox="1"/>
          <p:nvPr/>
        </p:nvSpPr>
        <p:spPr>
          <a:xfrm>
            <a:off x="9923983" y="6217920"/>
            <a:ext cx="1828800" cy="384048"/>
          </a:xfrm>
          <a:prstGeom prst="rect">
            <a:avLst/>
          </a:prstGeom>
          <a:noFill/>
        </p:spPr>
        <p:txBody>
          <a:bodyPr wrap="none" anchor="ctr">
            <a:spAutoFit/>
          </a:bodyPr>
          <a:lstStyle/>
          <a:p>
            <a:pPr algn="r"/>
            <a:r>
              <a:rPr sz="1100" b="1">
                <a:solidFill>
                  <a:srgbClr val="FFFFFF"/>
                </a:solidFill>
              </a:rPr>
              <a:t>12/08/2026</a:t>
            </a:r>
          </a:p>
        </p:txBody>
      </p:sp>
      <p:sp>
        <p:nvSpPr>
          <p:cNvPr id="5" name="Oval 4"/>
          <p:cNvSpPr/>
          <p:nvPr/>
        </p:nvSpPr>
        <p:spPr>
          <a:xfrm>
            <a:off x="5592927" y="914400"/>
            <a:ext cx="1005840" cy="1005840"/>
          </a:xfrm>
          <a:prstGeom prst="ellipse">
            <a:avLst/>
          </a:prstGeom>
          <a:noFill/>
          <a:ln w="28575">
            <a:solidFill>
              <a:srgbClr val="C059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a:t>☕</a:t>
            </a:r>
          </a:p>
        </p:txBody>
      </p:sp>
      <p:sp>
        <p:nvSpPr>
          <p:cNvPr id="6" name="TextBox 5"/>
          <p:cNvSpPr txBox="1"/>
          <p:nvPr/>
        </p:nvSpPr>
        <p:spPr>
          <a:xfrm>
            <a:off x="914400" y="2148840"/>
            <a:ext cx="10362895" cy="1463040"/>
          </a:xfrm>
          <a:prstGeom prst="rect">
            <a:avLst/>
          </a:prstGeom>
          <a:noFill/>
        </p:spPr>
        <p:txBody>
          <a:bodyPr wrap="square">
            <a:spAutoFit/>
          </a:bodyPr>
          <a:lstStyle/>
          <a:p>
            <a:pPr algn="ctr"/>
            <a:r>
              <a:rPr sz="3600" b="1">
                <a:solidFill>
                  <a:srgbClr val="C05911"/>
                </a:solidFill>
              </a:rPr>
              <a:t>Coffee Leaf Disease Classification and Identification</a:t>
            </a:r>
          </a:p>
        </p:txBody>
      </p:sp>
      <p:sp>
        <p:nvSpPr>
          <p:cNvPr id="7" name="TextBox 6"/>
          <p:cNvSpPr txBox="1"/>
          <p:nvPr/>
        </p:nvSpPr>
        <p:spPr>
          <a:xfrm>
            <a:off x="1097280" y="3566160"/>
            <a:ext cx="9997135" cy="2011680"/>
          </a:xfrm>
          <a:prstGeom prst="rect">
            <a:avLst/>
          </a:prstGeom>
          <a:noFill/>
        </p:spPr>
        <p:txBody>
          <a:bodyPr wrap="square">
            <a:spAutoFit/>
          </a:bodyPr>
          <a:lstStyle/>
          <a:p>
            <a:pPr algn="ctr"/>
            <a:r>
              <a:rPr sz="1900" i="1">
                <a:solidFill>
                  <a:srgbClr val="222222"/>
                </a:solidFill>
              </a:rPr>
              <a:t>A Random Forest and Support Vector Machine Approach for Arabica and Robusta Coffee in Uganda</a:t>
            </a:r>
          </a:p>
          <a:p>
            <a:pPr algn="ctr">
              <a:spcBef>
                <a:spcPts val="1600"/>
              </a:spcBef>
            </a:pPr>
            <a:r>
              <a:rPr sz="1500" b="1">
                <a:solidFill>
                  <a:srgbClr val="C05911"/>
                </a:solidFill>
              </a:rPr>
              <a:t>MSc Computer Science — Module 81203 ST — Advanced Machine Learning</a:t>
            </a:r>
          </a:p>
          <a:p>
            <a:pPr algn="ctr">
              <a:spcBef>
                <a:spcPts val="600"/>
              </a:spcBef>
            </a:pPr>
            <a:r>
              <a:rPr sz="1300">
                <a:solidFill>
                  <a:srgbClr val="222222"/>
                </a:solidFill>
              </a:rPr>
              <a:t>Registration No. VU-MCS-2603-1026-WEE</a:t>
            </a:r>
          </a:p>
          <a:p>
            <a:pPr algn="ctr">
              <a:spcBef>
                <a:spcPts val="600"/>
              </a:spcBef>
            </a:pPr>
            <a:r>
              <a:rPr sz="1300" i="1">
                <a:solidFill>
                  <a:srgbClr val="222222"/>
                </a:solidFill>
              </a:rPr>
              <a:t>Tasks 1 – 7: Model Selection through Mathematical Enhancement Review</a:t>
            </a:r>
          </a:p>
        </p:txBody>
      </p:sp>
      <p:sp>
        <p:nvSpPr>
          <p:cNvPr id="8" name="Rectangle 7"/>
          <p:cNvSpPr/>
          <p:nvPr/>
        </p:nvSpPr>
        <p:spPr>
          <a:xfrm>
            <a:off x="256032" y="256032"/>
            <a:ext cx="11679631" cy="6345936"/>
          </a:xfrm>
          <a:prstGeom prst="rect">
            <a:avLst/>
          </a:prstGeom>
          <a:noFill/>
          <a:ln w="22225">
            <a:solidFill>
              <a:srgbClr val="C059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6032" y="6217920"/>
            <a:ext cx="11679631" cy="384048"/>
          </a:xfrm>
          <a:prstGeom prst="rect">
            <a:avLst/>
          </a:prstGeom>
          <a:solidFill>
            <a:srgbClr val="C05911"/>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100" b="1">
                <a:solidFill>
                  <a:srgbClr val="FFFFFF"/>
                </a:solidFill>
              </a:rPr>
              <a:t>Advanced Machine Learning — Course Work Two</a:t>
            </a:r>
          </a:p>
        </p:txBody>
      </p:sp>
      <p:sp>
        <p:nvSpPr>
          <p:cNvPr id="10" name="TextBox 9"/>
          <p:cNvSpPr txBox="1"/>
          <p:nvPr/>
        </p:nvSpPr>
        <p:spPr>
          <a:xfrm>
            <a:off x="9923983" y="6217920"/>
            <a:ext cx="1828800" cy="384048"/>
          </a:xfrm>
          <a:prstGeom prst="rect">
            <a:avLst/>
          </a:prstGeom>
          <a:noFill/>
        </p:spPr>
        <p:txBody>
          <a:bodyPr wrap="none" anchor="ctr">
            <a:spAutoFit/>
          </a:bodyPr>
          <a:lstStyle/>
          <a:p>
            <a:pPr algn="r"/>
            <a:r>
              <a:rPr sz="1100" b="1">
                <a:solidFill>
                  <a:srgbClr val="FFFFFF"/>
                </a:solidFill>
              </a:rPr>
              <a:t>12/08/2026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256032" y="256032"/>
            <a:ext cx="11679631" cy="6345936"/>
          </a:xfrm>
          <a:prstGeom prst="rect">
            <a:avLst/>
          </a:prstGeom>
          <a:noFill/>
          <a:ln w="22225">
            <a:solidFill>
              <a:srgbClr val="C059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6032" y="6217920"/>
            <a:ext cx="11679631" cy="384048"/>
          </a:xfrm>
          <a:prstGeom prst="rect">
            <a:avLst/>
          </a:prstGeom>
          <a:solidFill>
            <a:srgbClr val="C05911"/>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100" b="1">
                <a:solidFill>
                  <a:srgbClr val="FFFFFF"/>
                </a:solidFill>
              </a:rPr>
              <a:t>Advanced Machine Learning — Course Work Two</a:t>
            </a:r>
          </a:p>
        </p:txBody>
      </p:sp>
      <p:sp>
        <p:nvSpPr>
          <p:cNvPr id="4" name="TextBox 3"/>
          <p:cNvSpPr txBox="1"/>
          <p:nvPr/>
        </p:nvSpPr>
        <p:spPr>
          <a:xfrm>
            <a:off x="9923983" y="6217920"/>
            <a:ext cx="1828800" cy="384048"/>
          </a:xfrm>
          <a:prstGeom prst="rect">
            <a:avLst/>
          </a:prstGeom>
          <a:noFill/>
        </p:spPr>
        <p:txBody>
          <a:bodyPr wrap="none" anchor="ctr">
            <a:spAutoFit/>
          </a:bodyPr>
          <a:lstStyle/>
          <a:p>
            <a:pPr algn="r"/>
            <a:r>
              <a:rPr sz="1100" b="1">
                <a:solidFill>
                  <a:srgbClr val="FFFFFF"/>
                </a:solidFill>
              </a:rPr>
              <a:t>12/08/2026</a:t>
            </a:r>
          </a:p>
        </p:txBody>
      </p:sp>
      <p:sp>
        <p:nvSpPr>
          <p:cNvPr id="5" name="TextBox 4"/>
          <p:cNvSpPr txBox="1"/>
          <p:nvPr/>
        </p:nvSpPr>
        <p:spPr>
          <a:xfrm>
            <a:off x="502920" y="292608"/>
            <a:ext cx="11185855" cy="777240"/>
          </a:xfrm>
          <a:prstGeom prst="rect">
            <a:avLst/>
          </a:prstGeom>
          <a:noFill/>
        </p:spPr>
        <p:txBody>
          <a:bodyPr wrap="square">
            <a:spAutoFit/>
          </a:bodyPr>
          <a:lstStyle/>
          <a:p>
            <a:pPr algn="ctr"/>
            <a:r>
              <a:rPr sz="2700" b="1">
                <a:solidFill>
                  <a:srgbClr val="C05911"/>
                </a:solidFill>
                <a:latin typeface="Calibri"/>
              </a:rPr>
              <a:t>Presentation Outline</a:t>
            </a:r>
          </a:p>
        </p:txBody>
      </p:sp>
      <p:cxnSp>
        <p:nvCxnSpPr>
          <p:cNvPr id="6" name="Connector 5"/>
          <p:cNvCxnSpPr/>
          <p:nvPr/>
        </p:nvCxnSpPr>
        <p:spPr>
          <a:xfrm>
            <a:off x="914400" y="1097280"/>
            <a:ext cx="10362895" cy="0"/>
          </a:xfrm>
          <a:prstGeom prst="line">
            <a:avLst/>
          </a:prstGeom>
          <a:ln w="12700">
            <a:solidFill>
              <a:srgbClr val="C05911"/>
            </a:solidFill>
            <a:prstDash val="dash"/>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5912967" y="914400"/>
            <a:ext cx="365760" cy="365760"/>
          </a:xfrm>
          <a:prstGeom prst="ellipse">
            <a:avLst/>
          </a:prstGeom>
          <a:solidFill>
            <a:srgbClr val="FFFFFF"/>
          </a:solidFill>
          <a:ln w="15875">
            <a:solidFill>
              <a:srgbClr val="C0591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C05911"/>
                </a:solidFill>
              </a:rPr>
              <a:t>2</a:t>
            </a:r>
          </a:p>
        </p:txBody>
      </p:sp>
      <p:sp>
        <p:nvSpPr>
          <p:cNvPr id="8" name="TextBox 7"/>
          <p:cNvSpPr txBox="1"/>
          <p:nvPr/>
        </p:nvSpPr>
        <p:spPr>
          <a:xfrm>
            <a:off x="594360" y="1298448"/>
            <a:ext cx="11002975" cy="4846320"/>
          </a:xfrm>
          <a:prstGeom prst="rect">
            <a:avLst/>
          </a:prstGeom>
          <a:noFill/>
        </p:spPr>
        <p:txBody>
          <a:bodyPr wrap="square">
            <a:spAutoFit/>
          </a:bodyPr>
          <a:lstStyle/>
          <a:p>
            <a:pPr>
              <a:spcAft>
                <a:spcPts val="900"/>
              </a:spcAft>
            </a:pPr>
            <a:r>
              <a:rPr sz="1900" b="1">
                <a:solidFill>
                  <a:srgbClr val="299BD6"/>
                </a:solidFill>
              </a:rPr>
              <a:t>●  </a:t>
            </a:r>
            <a:r>
              <a:rPr sz="1900" b="1" i="0">
                <a:solidFill>
                  <a:srgbClr val="222222"/>
                </a:solidFill>
                <a:latin typeface="Calibri"/>
              </a:rPr>
              <a:t>Part 1 — </a:t>
            </a:r>
            <a:r>
              <a:rPr sz="1900" b="0" i="0">
                <a:solidFill>
                  <a:srgbClr val="222222"/>
                </a:solidFill>
                <a:latin typeface="Calibri"/>
              </a:rPr>
              <a:t>Context and Problem: why coffee disease detection matters in Uganda</a:t>
            </a:r>
          </a:p>
          <a:p>
            <a:pPr>
              <a:spcAft>
                <a:spcPts val="900"/>
              </a:spcAft>
            </a:pPr>
            <a:r>
              <a:rPr sz="1900" b="1">
                <a:solidFill>
                  <a:srgbClr val="299BD6"/>
                </a:solidFill>
              </a:rPr>
              <a:t>●  </a:t>
            </a:r>
            <a:r>
              <a:rPr sz="1900" b="1" i="0">
                <a:solidFill>
                  <a:srgbClr val="222222"/>
                </a:solidFill>
                <a:latin typeface="Calibri"/>
              </a:rPr>
              <a:t>Part 2 — </a:t>
            </a:r>
            <a:r>
              <a:rPr sz="1900" b="0" i="0">
                <a:solidFill>
                  <a:srgbClr val="222222"/>
                </a:solidFill>
                <a:latin typeface="Calibri"/>
              </a:rPr>
              <a:t>Task 1: Model Selection and justification for Random Forest and SVM</a:t>
            </a:r>
          </a:p>
          <a:p>
            <a:pPr>
              <a:spcAft>
                <a:spcPts val="900"/>
              </a:spcAft>
            </a:pPr>
            <a:r>
              <a:rPr sz="1900" b="1">
                <a:solidFill>
                  <a:srgbClr val="299BD6"/>
                </a:solidFill>
              </a:rPr>
              <a:t>●  </a:t>
            </a:r>
            <a:r>
              <a:rPr sz="1900" b="1" i="0">
                <a:solidFill>
                  <a:srgbClr val="222222"/>
                </a:solidFill>
                <a:latin typeface="Calibri"/>
              </a:rPr>
              <a:t>Part 3 — </a:t>
            </a:r>
            <a:r>
              <a:rPr sz="1900" b="0" i="0">
                <a:solidFill>
                  <a:srgbClr val="222222"/>
                </a:solidFill>
                <a:latin typeface="Calibri"/>
              </a:rPr>
              <a:t>Task 2: Implementation pipeline, features, parameters, evaluation</a:t>
            </a:r>
          </a:p>
          <a:p>
            <a:pPr>
              <a:spcAft>
                <a:spcPts val="900"/>
              </a:spcAft>
            </a:pPr>
            <a:r>
              <a:rPr sz="1900" b="1">
                <a:solidFill>
                  <a:srgbClr val="299BD6"/>
                </a:solidFill>
              </a:rPr>
              <a:t>●  </a:t>
            </a:r>
            <a:r>
              <a:rPr sz="1900" b="1" i="0">
                <a:solidFill>
                  <a:srgbClr val="222222"/>
                </a:solidFill>
                <a:latin typeface="Calibri"/>
              </a:rPr>
              <a:t>Part 4 — </a:t>
            </a:r>
            <a:r>
              <a:rPr sz="1900" b="0" i="0">
                <a:solidFill>
                  <a:srgbClr val="222222"/>
                </a:solidFill>
                <a:latin typeface="Calibri"/>
              </a:rPr>
              <a:t>Task 3: Replicating a published study and comparing results</a:t>
            </a:r>
          </a:p>
          <a:p>
            <a:pPr>
              <a:spcAft>
                <a:spcPts val="900"/>
              </a:spcAft>
            </a:pPr>
            <a:r>
              <a:rPr sz="1900" b="1">
                <a:solidFill>
                  <a:srgbClr val="299BD6"/>
                </a:solidFill>
              </a:rPr>
              <a:t>●  </a:t>
            </a:r>
            <a:r>
              <a:rPr sz="1900" b="1" i="0">
                <a:solidFill>
                  <a:srgbClr val="222222"/>
                </a:solidFill>
                <a:latin typeface="Calibri"/>
              </a:rPr>
              <a:t>Part 5 — </a:t>
            </a:r>
            <a:r>
              <a:rPr sz="1900" b="0" i="0">
                <a:solidFill>
                  <a:srgbClr val="222222"/>
                </a:solidFill>
                <a:latin typeface="Calibri"/>
              </a:rPr>
              <a:t>Task 4 &amp; 5: Research gaps, proposed solution, and Master's research topic</a:t>
            </a:r>
          </a:p>
          <a:p>
            <a:pPr>
              <a:spcAft>
                <a:spcPts val="900"/>
              </a:spcAft>
            </a:pPr>
            <a:r>
              <a:rPr sz="1900" b="1">
                <a:solidFill>
                  <a:srgbClr val="299BD6"/>
                </a:solidFill>
              </a:rPr>
              <a:t>●  </a:t>
            </a:r>
            <a:r>
              <a:rPr sz="1900" b="1" i="0">
                <a:solidFill>
                  <a:srgbClr val="222222"/>
                </a:solidFill>
                <a:latin typeface="Calibri"/>
              </a:rPr>
              <a:t>Part 6 — </a:t>
            </a:r>
            <a:r>
              <a:rPr sz="1900" b="0" i="0">
                <a:solidFill>
                  <a:srgbClr val="222222"/>
                </a:solidFill>
                <a:latin typeface="Calibri"/>
              </a:rPr>
              <a:t>Task 6: Mathematical foundations of Random Forest and SVM</a:t>
            </a:r>
          </a:p>
          <a:p>
            <a:pPr>
              <a:spcAft>
                <a:spcPts val="900"/>
              </a:spcAft>
            </a:pPr>
            <a:r>
              <a:rPr sz="1900" b="1">
                <a:solidFill>
                  <a:srgbClr val="299BD6"/>
                </a:solidFill>
              </a:rPr>
              <a:t>●  </a:t>
            </a:r>
            <a:r>
              <a:rPr sz="1900" b="1" i="0">
                <a:solidFill>
                  <a:srgbClr val="222222"/>
                </a:solidFill>
                <a:latin typeface="Calibri"/>
              </a:rPr>
              <a:t>Part 7 — </a:t>
            </a:r>
            <a:r>
              <a:rPr sz="1900" b="0" i="0">
                <a:solidFill>
                  <a:srgbClr val="222222"/>
                </a:solidFill>
                <a:latin typeface="Calibri"/>
              </a:rPr>
              <a:t>Task 7: Recent mathematical enhancements from the literature</a:t>
            </a:r>
          </a:p>
          <a:p>
            <a:pPr>
              <a:spcAft>
                <a:spcPts val="900"/>
              </a:spcAft>
            </a:pPr>
            <a:r>
              <a:rPr sz="1900" b="1">
                <a:solidFill>
                  <a:srgbClr val="299BD6"/>
                </a:solidFill>
              </a:rPr>
              <a:t>●  </a:t>
            </a:r>
            <a:r>
              <a:rPr sz="1900" b="1" i="0">
                <a:solidFill>
                  <a:srgbClr val="222222"/>
                </a:solidFill>
                <a:latin typeface="Calibri"/>
              </a:rPr>
              <a:t>Part 8 — </a:t>
            </a:r>
            <a:r>
              <a:rPr sz="1900" b="0" i="0">
                <a:solidFill>
                  <a:srgbClr val="222222"/>
                </a:solidFill>
                <a:latin typeface="Calibri"/>
              </a:rPr>
              <a:t>Critical reflection, conclusion, and questions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256032" y="256032"/>
            <a:ext cx="11679631" cy="6345936"/>
          </a:xfrm>
          <a:prstGeom prst="rect">
            <a:avLst/>
          </a:prstGeom>
          <a:noFill/>
          <a:ln w="22225">
            <a:solidFill>
              <a:srgbClr val="C059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6032" y="6217920"/>
            <a:ext cx="11679631" cy="384048"/>
          </a:xfrm>
          <a:prstGeom prst="rect">
            <a:avLst/>
          </a:prstGeom>
          <a:solidFill>
            <a:srgbClr val="C05911"/>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100" b="1">
                <a:solidFill>
                  <a:srgbClr val="FFFFFF"/>
                </a:solidFill>
              </a:rPr>
              <a:t>Advanced Machine Learning — Course Work Two</a:t>
            </a:r>
          </a:p>
        </p:txBody>
      </p:sp>
      <p:sp>
        <p:nvSpPr>
          <p:cNvPr id="4" name="TextBox 3"/>
          <p:cNvSpPr txBox="1"/>
          <p:nvPr/>
        </p:nvSpPr>
        <p:spPr>
          <a:xfrm>
            <a:off x="9923983" y="6217920"/>
            <a:ext cx="1828800" cy="384048"/>
          </a:xfrm>
          <a:prstGeom prst="rect">
            <a:avLst/>
          </a:prstGeom>
          <a:noFill/>
        </p:spPr>
        <p:txBody>
          <a:bodyPr wrap="none" anchor="ctr">
            <a:spAutoFit/>
          </a:bodyPr>
          <a:lstStyle/>
          <a:p>
            <a:pPr algn="r"/>
            <a:r>
              <a:rPr sz="1100" b="1">
                <a:solidFill>
                  <a:srgbClr val="FFFFFF"/>
                </a:solidFill>
              </a:rPr>
              <a:t>12/08/2026</a:t>
            </a:r>
          </a:p>
        </p:txBody>
      </p:sp>
      <p:sp>
        <p:nvSpPr>
          <p:cNvPr id="5" name="TextBox 4"/>
          <p:cNvSpPr txBox="1"/>
          <p:nvPr/>
        </p:nvSpPr>
        <p:spPr>
          <a:xfrm>
            <a:off x="502920" y="292608"/>
            <a:ext cx="11185855" cy="777240"/>
          </a:xfrm>
          <a:prstGeom prst="rect">
            <a:avLst/>
          </a:prstGeom>
          <a:noFill/>
        </p:spPr>
        <p:txBody>
          <a:bodyPr wrap="square">
            <a:spAutoFit/>
          </a:bodyPr>
          <a:lstStyle/>
          <a:p>
            <a:pPr algn="ctr"/>
            <a:r>
              <a:rPr sz="2700" b="1">
                <a:solidFill>
                  <a:srgbClr val="C05911"/>
                </a:solidFill>
                <a:latin typeface="Calibri"/>
              </a:rPr>
              <a:t>Context: Uganda's Coffee Economy and the Disease Threat</a:t>
            </a:r>
          </a:p>
        </p:txBody>
      </p:sp>
      <p:cxnSp>
        <p:nvCxnSpPr>
          <p:cNvPr id="6" name="Connector 5"/>
          <p:cNvCxnSpPr/>
          <p:nvPr/>
        </p:nvCxnSpPr>
        <p:spPr>
          <a:xfrm>
            <a:off x="914400" y="1097280"/>
            <a:ext cx="10362895" cy="0"/>
          </a:xfrm>
          <a:prstGeom prst="line">
            <a:avLst/>
          </a:prstGeom>
          <a:ln w="12700">
            <a:solidFill>
              <a:srgbClr val="C05911"/>
            </a:solidFill>
            <a:prstDash val="dash"/>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5912967" y="914400"/>
            <a:ext cx="365760" cy="365760"/>
          </a:xfrm>
          <a:prstGeom prst="ellipse">
            <a:avLst/>
          </a:prstGeom>
          <a:solidFill>
            <a:srgbClr val="FFFFFF"/>
          </a:solidFill>
          <a:ln w="15875">
            <a:solidFill>
              <a:srgbClr val="C0591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C05911"/>
                </a:solidFill>
              </a:rPr>
              <a:t>3</a:t>
            </a:r>
          </a:p>
        </p:txBody>
      </p:sp>
      <p:sp>
        <p:nvSpPr>
          <p:cNvPr id="8" name="TextBox 7"/>
          <p:cNvSpPr txBox="1"/>
          <p:nvPr/>
        </p:nvSpPr>
        <p:spPr>
          <a:xfrm>
            <a:off x="594360" y="1298448"/>
            <a:ext cx="11002975" cy="4846320"/>
          </a:xfrm>
          <a:prstGeom prst="rect">
            <a:avLst/>
          </a:prstGeom>
          <a:noFill/>
        </p:spPr>
        <p:txBody>
          <a:bodyPr wrap="square">
            <a:spAutoFit/>
          </a:bodyPr>
          <a:lstStyle/>
          <a:p>
            <a:pPr>
              <a:spcAft>
                <a:spcPts val="900"/>
              </a:spcAft>
            </a:pPr>
            <a:r>
              <a:rPr sz="1700" b="1">
                <a:solidFill>
                  <a:srgbClr val="299BD6"/>
                </a:solidFill>
              </a:rPr>
              <a:t>●  </a:t>
            </a:r>
            <a:r>
              <a:rPr sz="1700" b="0" i="0">
                <a:solidFill>
                  <a:srgbClr val="222222"/>
                </a:solidFill>
                <a:latin typeface="Calibri"/>
              </a:rPr>
              <a:t>Coffee is Uganda's leading export after gold </a:t>
            </a:r>
            <a:r>
              <a:rPr sz="1700" b="1" i="1">
                <a:solidFill>
                  <a:srgbClr val="C05911"/>
                </a:solidFill>
                <a:latin typeface="Calibri"/>
              </a:rPr>
              <a:t>— approximately 20–25% of national export earnings</a:t>
            </a:r>
            <a:r>
              <a:rPr sz="1700" b="0" i="0">
                <a:solidFill>
                  <a:srgbClr val="222222"/>
                </a:solidFill>
                <a:latin typeface="Calibri"/>
              </a:rPr>
              <a:t>, with over 5 million 60kg bags produced annually.</a:t>
            </a:r>
          </a:p>
          <a:p>
            <a:pPr>
              <a:spcAft>
                <a:spcPts val="900"/>
              </a:spcAft>
            </a:pPr>
            <a:r>
              <a:rPr sz="1700" b="1">
                <a:solidFill>
                  <a:srgbClr val="299BD6"/>
                </a:solidFill>
              </a:rPr>
              <a:t>●  </a:t>
            </a:r>
            <a:r>
              <a:rPr sz="1700" b="0" i="0">
                <a:solidFill>
                  <a:srgbClr val="222222"/>
                </a:solidFill>
                <a:latin typeface="Calibri"/>
              </a:rPr>
              <a:t>Two varieties dominate: Arabica (Mount Elgon, Rwenzori highlands) and Robusta (central and western regions) — each with two to three years from planting to first harvest.</a:t>
            </a:r>
          </a:p>
          <a:p>
            <a:pPr>
              <a:spcAft>
                <a:spcPts val="900"/>
              </a:spcAft>
            </a:pPr>
            <a:r>
              <a:rPr sz="1700" b="1">
                <a:solidFill>
                  <a:srgbClr val="299BD6"/>
                </a:solidFill>
              </a:rPr>
              <a:t>●  </a:t>
            </a:r>
            <a:r>
              <a:rPr sz="1700" b="0" i="0">
                <a:solidFill>
                  <a:srgbClr val="222222"/>
                </a:solidFill>
                <a:latin typeface="Calibri"/>
              </a:rPr>
              <a:t>Over 98% of Ugandan coffee farmers are smallholders, and roughly 1.7 million households depend on the crop as a multi-generational livelihood.</a:t>
            </a:r>
          </a:p>
          <a:p>
            <a:pPr>
              <a:spcAft>
                <a:spcPts val="400"/>
              </a:spcAft>
            </a:pPr>
          </a:p>
          <a:p>
            <a:pPr>
              <a:spcAft>
                <a:spcPts val="900"/>
              </a:spcAft>
            </a:pPr>
            <a:r>
              <a:rPr sz="1700" b="1">
                <a:solidFill>
                  <a:srgbClr val="299BD6"/>
                </a:solidFill>
              </a:rPr>
              <a:t>●  </a:t>
            </a:r>
            <a:r>
              <a:rPr sz="1700" b="1" i="0">
                <a:solidFill>
                  <a:srgbClr val="222222"/>
                </a:solidFill>
                <a:latin typeface="Calibri"/>
              </a:rPr>
              <a:t>Disease pressure is rising: </a:t>
            </a:r>
            <a:r>
              <a:rPr sz="1700" b="0" i="0">
                <a:solidFill>
                  <a:srgbClr val="222222"/>
                </a:solidFill>
                <a:latin typeface="Calibri"/>
              </a:rPr>
              <a:t>coffee wilt disease, leaf rust, red blister disease, and pests such as black twig borer and tailed caterpillars.</a:t>
            </a:r>
          </a:p>
          <a:p>
            <a:pPr>
              <a:spcAft>
                <a:spcPts val="900"/>
              </a:spcAft>
            </a:pPr>
            <a:r>
              <a:rPr sz="1700" b="1">
                <a:solidFill>
                  <a:srgbClr val="299BD6"/>
                </a:solidFill>
              </a:rPr>
              <a:t>●  </a:t>
            </a:r>
            <a:r>
              <a:rPr sz="1700" b="1" i="1">
                <a:solidFill>
                  <a:srgbClr val="C05911"/>
                </a:solidFill>
                <a:latin typeface="Calibri"/>
              </a:rPr>
              <a:t>Yield losses of 15–40%</a:t>
            </a:r>
            <a:r>
              <a:rPr sz="1700" b="0" i="0">
                <a:solidFill>
                  <a:srgbClr val="222222"/>
                </a:solidFill>
                <a:latin typeface="Calibri"/>
              </a:rPr>
              <a:t> are attributed to disease and pests, compounding the effects of climate variability.</a:t>
            </a:r>
          </a:p>
          <a:p>
            <a:pPr>
              <a:spcAft>
                <a:spcPts val="900"/>
              </a:spcAft>
            </a:pPr>
            <a:r>
              <a:rPr sz="1700" b="1">
                <a:solidFill>
                  <a:srgbClr val="299BD6"/>
                </a:solidFill>
              </a:rPr>
              <a:t>●  </a:t>
            </a:r>
            <a:r>
              <a:rPr sz="1700" b="0" i="0">
                <a:solidFill>
                  <a:srgbClr val="222222"/>
                </a:solidFill>
                <a:latin typeface="Calibri"/>
              </a:rPr>
              <a:t>Manual diagnosis remains the norm — slow, inconsistent, and dependent on extension workers who are often unavailable in remote areas.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256032" y="256032"/>
            <a:ext cx="11679631" cy="6345936"/>
          </a:xfrm>
          <a:prstGeom prst="rect">
            <a:avLst/>
          </a:prstGeom>
          <a:noFill/>
          <a:ln w="22225">
            <a:solidFill>
              <a:srgbClr val="C059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6032" y="6217920"/>
            <a:ext cx="11679631" cy="384048"/>
          </a:xfrm>
          <a:prstGeom prst="rect">
            <a:avLst/>
          </a:prstGeom>
          <a:solidFill>
            <a:srgbClr val="C05911"/>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100" b="1">
                <a:solidFill>
                  <a:srgbClr val="FFFFFF"/>
                </a:solidFill>
              </a:rPr>
              <a:t>Advanced Machine Learning — Course Work Two</a:t>
            </a:r>
          </a:p>
        </p:txBody>
      </p:sp>
      <p:sp>
        <p:nvSpPr>
          <p:cNvPr id="4" name="TextBox 3"/>
          <p:cNvSpPr txBox="1"/>
          <p:nvPr/>
        </p:nvSpPr>
        <p:spPr>
          <a:xfrm>
            <a:off x="9923983" y="6217920"/>
            <a:ext cx="1828800" cy="384048"/>
          </a:xfrm>
          <a:prstGeom prst="rect">
            <a:avLst/>
          </a:prstGeom>
          <a:noFill/>
        </p:spPr>
        <p:txBody>
          <a:bodyPr wrap="none" anchor="ctr">
            <a:spAutoFit/>
          </a:bodyPr>
          <a:lstStyle/>
          <a:p>
            <a:pPr algn="r"/>
            <a:r>
              <a:rPr sz="1100" b="1">
                <a:solidFill>
                  <a:srgbClr val="FFFFFF"/>
                </a:solidFill>
              </a:rPr>
              <a:t>12/08/2026</a:t>
            </a:r>
          </a:p>
        </p:txBody>
      </p:sp>
      <p:sp>
        <p:nvSpPr>
          <p:cNvPr id="5" name="TextBox 4"/>
          <p:cNvSpPr txBox="1"/>
          <p:nvPr/>
        </p:nvSpPr>
        <p:spPr>
          <a:xfrm>
            <a:off x="502920" y="292608"/>
            <a:ext cx="11185855" cy="777240"/>
          </a:xfrm>
          <a:prstGeom prst="rect">
            <a:avLst/>
          </a:prstGeom>
          <a:noFill/>
        </p:spPr>
        <p:txBody>
          <a:bodyPr wrap="square">
            <a:spAutoFit/>
          </a:bodyPr>
          <a:lstStyle/>
          <a:p>
            <a:pPr algn="ctr"/>
            <a:r>
              <a:rPr sz="2700" b="1">
                <a:solidFill>
                  <a:srgbClr val="C05911"/>
                </a:solidFill>
                <a:latin typeface="Calibri"/>
              </a:rPr>
              <a:t>Task 1: Formal Problem Definition</a:t>
            </a:r>
          </a:p>
        </p:txBody>
      </p:sp>
      <p:cxnSp>
        <p:nvCxnSpPr>
          <p:cNvPr id="6" name="Connector 5"/>
          <p:cNvCxnSpPr/>
          <p:nvPr/>
        </p:nvCxnSpPr>
        <p:spPr>
          <a:xfrm>
            <a:off x="914400" y="1097280"/>
            <a:ext cx="10362895" cy="0"/>
          </a:xfrm>
          <a:prstGeom prst="line">
            <a:avLst/>
          </a:prstGeom>
          <a:ln w="12700">
            <a:solidFill>
              <a:srgbClr val="C05911"/>
            </a:solidFill>
            <a:prstDash val="dash"/>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5912967" y="914400"/>
            <a:ext cx="365760" cy="365760"/>
          </a:xfrm>
          <a:prstGeom prst="ellipse">
            <a:avLst/>
          </a:prstGeom>
          <a:solidFill>
            <a:srgbClr val="FFFFFF"/>
          </a:solidFill>
          <a:ln w="15875">
            <a:solidFill>
              <a:srgbClr val="C0591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C05911"/>
                </a:solidFill>
              </a:rPr>
              <a:t>4</a:t>
            </a:r>
          </a:p>
        </p:txBody>
      </p:sp>
      <p:sp>
        <p:nvSpPr>
          <p:cNvPr id="8" name="TextBox 7"/>
          <p:cNvSpPr txBox="1"/>
          <p:nvPr/>
        </p:nvSpPr>
        <p:spPr>
          <a:xfrm>
            <a:off x="594360" y="1298448"/>
            <a:ext cx="11002975" cy="4846320"/>
          </a:xfrm>
          <a:prstGeom prst="rect">
            <a:avLst/>
          </a:prstGeom>
          <a:noFill/>
        </p:spPr>
        <p:txBody>
          <a:bodyPr wrap="square">
            <a:spAutoFit/>
          </a:bodyPr>
          <a:lstStyle/>
          <a:p>
            <a:pPr>
              <a:spcAft>
                <a:spcPts val="900"/>
              </a:spcAft>
            </a:pPr>
            <a:r>
              <a:rPr sz="1800" b="1">
                <a:solidFill>
                  <a:srgbClr val="299BD6"/>
                </a:solidFill>
              </a:rPr>
              <a:t>●  </a:t>
            </a:r>
            <a:r>
              <a:rPr sz="1800" b="0" i="0">
                <a:solidFill>
                  <a:srgbClr val="222222"/>
                </a:solidFill>
                <a:latin typeface="Calibri"/>
              </a:rPr>
              <a:t>Coffee leaf disease prediction is a </a:t>
            </a:r>
            <a:r>
              <a:rPr sz="1800" b="1" i="1">
                <a:solidFill>
                  <a:srgbClr val="C05911"/>
                </a:solidFill>
                <a:latin typeface="Calibri"/>
              </a:rPr>
              <a:t>supervised multi-class classification problem.</a:t>
            </a:r>
          </a:p>
          <a:p>
            <a:pPr>
              <a:spcAft>
                <a:spcPts val="900"/>
              </a:spcAft>
            </a:pPr>
            <a:r>
              <a:rPr sz="1800" b="1">
                <a:solidFill>
                  <a:srgbClr val="299BD6"/>
                </a:solidFill>
              </a:rPr>
              <a:t>●  </a:t>
            </a:r>
            <a:r>
              <a:rPr sz="1800" b="0" i="0">
                <a:solidFill>
                  <a:srgbClr val="222222"/>
                </a:solidFill>
                <a:latin typeface="Calibri"/>
              </a:rPr>
              <a:t>Input space X: RGB images of coffee leaves, variable resolution, captured under uncontrolled field conditions.</a:t>
            </a:r>
          </a:p>
          <a:p>
            <a:pPr>
              <a:spcAft>
                <a:spcPts val="900"/>
              </a:spcAft>
            </a:pPr>
            <a:r>
              <a:rPr sz="1800" b="1">
                <a:solidFill>
                  <a:srgbClr val="299BD6"/>
                </a:solidFill>
              </a:rPr>
              <a:t>●  </a:t>
            </a:r>
            <a:r>
              <a:rPr sz="1800" b="0" i="0">
                <a:solidFill>
                  <a:srgbClr val="222222"/>
                </a:solidFill>
                <a:latin typeface="Calibri"/>
              </a:rPr>
              <a:t>Output space Y: 6 classes = {Healthy, Rust, Cercospora Leaf Spot, Phoma, Bacterial Blight, Leaf Miner}.</a:t>
            </a:r>
          </a:p>
          <a:p>
            <a:pPr>
              <a:spcAft>
                <a:spcPts val="900"/>
              </a:spcAft>
            </a:pPr>
            <a:r>
              <a:rPr sz="1800" b="1">
                <a:solidFill>
                  <a:srgbClr val="299BD6"/>
                </a:solidFill>
              </a:rPr>
              <a:t>●  </a:t>
            </a:r>
            <a:r>
              <a:rPr sz="1800" b="1" i="0">
                <a:solidFill>
                  <a:srgbClr val="222222"/>
                </a:solidFill>
                <a:latin typeface="Calibri"/>
              </a:rPr>
              <a:t>Goal: </a:t>
            </a:r>
            <a:r>
              <a:rPr sz="1800" b="0" i="0">
                <a:solidFill>
                  <a:srgbClr val="222222"/>
                </a:solidFill>
                <a:latin typeface="Calibri"/>
              </a:rPr>
              <a:t>learn an estimator f-hat: X → Y that minimises expected classification risk on unseen field images, not just training images.</a:t>
            </a:r>
          </a:p>
          <a:p>
            <a:pPr>
              <a:spcAft>
                <a:spcPts val="400"/>
              </a:spcAft>
            </a:pPr>
          </a:p>
          <a:p>
            <a:pPr>
              <a:spcAft>
                <a:spcPts val="900"/>
              </a:spcAft>
            </a:pPr>
            <a:r>
              <a:rPr sz="1800" b="1">
                <a:solidFill>
                  <a:srgbClr val="299BD6"/>
                </a:solidFill>
              </a:rPr>
              <a:t>●  </a:t>
            </a:r>
            <a:r>
              <a:rPr sz="1800" b="1" i="0">
                <a:solidFill>
                  <a:srgbClr val="222222"/>
                </a:solidFill>
                <a:latin typeface="Calibri"/>
              </a:rPr>
              <a:t>Real constraints that shape every later decision: </a:t>
            </a:r>
            <a:r>
              <a:rPr sz="1800" b="0" i="0">
                <a:solidFill>
                  <a:srgbClr val="222222"/>
                </a:solidFill>
                <a:latin typeface="Calibri"/>
              </a:rPr>
              <a:t>limited computational resources, need for offline capability, and farmer/extension-worker accessibility.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256032" y="256032"/>
            <a:ext cx="11679631" cy="6345936"/>
          </a:xfrm>
          <a:prstGeom prst="rect">
            <a:avLst/>
          </a:prstGeom>
          <a:noFill/>
          <a:ln w="22225">
            <a:solidFill>
              <a:srgbClr val="C059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6032" y="6217920"/>
            <a:ext cx="11679631" cy="384048"/>
          </a:xfrm>
          <a:prstGeom prst="rect">
            <a:avLst/>
          </a:prstGeom>
          <a:solidFill>
            <a:srgbClr val="C05911"/>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100" b="1">
                <a:solidFill>
                  <a:srgbClr val="FFFFFF"/>
                </a:solidFill>
              </a:rPr>
              <a:t>Advanced Machine Learning — Course Work Two</a:t>
            </a:r>
          </a:p>
        </p:txBody>
      </p:sp>
      <p:sp>
        <p:nvSpPr>
          <p:cNvPr id="4" name="TextBox 3"/>
          <p:cNvSpPr txBox="1"/>
          <p:nvPr/>
        </p:nvSpPr>
        <p:spPr>
          <a:xfrm>
            <a:off x="9923983" y="6217920"/>
            <a:ext cx="1828800" cy="384048"/>
          </a:xfrm>
          <a:prstGeom prst="rect">
            <a:avLst/>
          </a:prstGeom>
          <a:noFill/>
        </p:spPr>
        <p:txBody>
          <a:bodyPr wrap="none" anchor="ctr">
            <a:spAutoFit/>
          </a:bodyPr>
          <a:lstStyle/>
          <a:p>
            <a:pPr algn="r"/>
            <a:r>
              <a:rPr sz="1100" b="1">
                <a:solidFill>
                  <a:srgbClr val="FFFFFF"/>
                </a:solidFill>
              </a:rPr>
              <a:t>12/08/2026</a:t>
            </a:r>
          </a:p>
        </p:txBody>
      </p:sp>
      <p:sp>
        <p:nvSpPr>
          <p:cNvPr id="5" name="TextBox 4"/>
          <p:cNvSpPr txBox="1"/>
          <p:nvPr/>
        </p:nvSpPr>
        <p:spPr>
          <a:xfrm>
            <a:off x="502920" y="292608"/>
            <a:ext cx="11185855" cy="777240"/>
          </a:xfrm>
          <a:prstGeom prst="rect">
            <a:avLst/>
          </a:prstGeom>
          <a:noFill/>
        </p:spPr>
        <p:txBody>
          <a:bodyPr wrap="square">
            <a:spAutoFit/>
          </a:bodyPr>
          <a:lstStyle/>
          <a:p>
            <a:pPr algn="ctr"/>
            <a:r>
              <a:rPr sz="2700" b="1">
                <a:solidFill>
                  <a:srgbClr val="C05911"/>
                </a:solidFill>
                <a:latin typeface="Calibri"/>
              </a:rPr>
              <a:t>Task 1: Why Random Forest?</a:t>
            </a:r>
          </a:p>
        </p:txBody>
      </p:sp>
      <p:cxnSp>
        <p:nvCxnSpPr>
          <p:cNvPr id="6" name="Connector 5"/>
          <p:cNvCxnSpPr/>
          <p:nvPr/>
        </p:nvCxnSpPr>
        <p:spPr>
          <a:xfrm>
            <a:off x="914400" y="1097280"/>
            <a:ext cx="10362895" cy="0"/>
          </a:xfrm>
          <a:prstGeom prst="line">
            <a:avLst/>
          </a:prstGeom>
          <a:ln w="12700">
            <a:solidFill>
              <a:srgbClr val="C05911"/>
            </a:solidFill>
            <a:prstDash val="dash"/>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5912967" y="914400"/>
            <a:ext cx="365760" cy="365760"/>
          </a:xfrm>
          <a:prstGeom prst="ellipse">
            <a:avLst/>
          </a:prstGeom>
          <a:solidFill>
            <a:srgbClr val="FFFFFF"/>
          </a:solidFill>
          <a:ln w="15875">
            <a:solidFill>
              <a:srgbClr val="C0591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C05911"/>
                </a:solidFill>
              </a:rPr>
              <a:t>5</a:t>
            </a:r>
          </a:p>
        </p:txBody>
      </p:sp>
      <p:sp>
        <p:nvSpPr>
          <p:cNvPr id="8" name="TextBox 7"/>
          <p:cNvSpPr txBox="1"/>
          <p:nvPr/>
        </p:nvSpPr>
        <p:spPr>
          <a:xfrm>
            <a:off x="594360" y="1298448"/>
            <a:ext cx="11002975" cy="4846320"/>
          </a:xfrm>
          <a:prstGeom prst="rect">
            <a:avLst/>
          </a:prstGeom>
          <a:noFill/>
        </p:spPr>
        <p:txBody>
          <a:bodyPr wrap="square">
            <a:spAutoFit/>
          </a:bodyPr>
          <a:lstStyle/>
          <a:p>
            <a:pPr>
              <a:spcAft>
                <a:spcPts val="900"/>
              </a:spcAft>
            </a:pPr>
            <a:r>
              <a:rPr sz="1700" b="1">
                <a:solidFill>
                  <a:srgbClr val="299BD6"/>
                </a:solidFill>
              </a:rPr>
              <a:t>●  </a:t>
            </a:r>
            <a:r>
              <a:rPr sz="1700" b="1" i="0">
                <a:solidFill>
                  <a:srgbClr val="222222"/>
                </a:solidFill>
                <a:latin typeface="Calibri"/>
              </a:rPr>
              <a:t>Definition: </a:t>
            </a:r>
            <a:r>
              <a:rPr sz="1700" b="0" i="0">
                <a:solidFill>
                  <a:srgbClr val="222222"/>
                </a:solidFill>
                <a:latin typeface="Calibri"/>
              </a:rPr>
              <a:t>an ensemble of decision trees, each trained on a bootstrap sample, voting by majority for the final class.</a:t>
            </a:r>
          </a:p>
          <a:p>
            <a:pPr>
              <a:spcAft>
                <a:spcPts val="900"/>
              </a:spcAft>
            </a:pPr>
            <a:r>
              <a:rPr sz="1700" b="1">
                <a:solidFill>
                  <a:srgbClr val="299BD6"/>
                </a:solidFill>
              </a:rPr>
              <a:t>●  </a:t>
            </a:r>
            <a:r>
              <a:rPr sz="1700" b="0" i="0">
                <a:solidFill>
                  <a:srgbClr val="222222"/>
                </a:solidFill>
                <a:latin typeface="Calibri"/>
              </a:rPr>
              <a:t>Feature-importance interpretability</a:t>
            </a:r>
          </a:p>
          <a:p>
            <a:pPr>
              <a:spcAft>
                <a:spcPts val="500"/>
              </a:spcAft>
            </a:pPr>
            <a:r>
              <a:t>      –  </a:t>
            </a:r>
            <a:r>
              <a:rPr sz="1500" b="0" i="0">
                <a:solidFill>
                  <a:srgbClr val="222222"/>
                </a:solidFill>
                <a:latin typeface="Calibri"/>
              </a:rPr>
              <a:t>Ranks which colour, texture and shape cues drove each prediction — transparent, unlike a CNN's opaque filters.</a:t>
            </a:r>
          </a:p>
          <a:p>
            <a:pPr>
              <a:spcAft>
                <a:spcPts val="900"/>
              </a:spcAft>
            </a:pPr>
            <a:r>
              <a:rPr sz="1700" b="1">
                <a:solidFill>
                  <a:srgbClr val="299BD6"/>
                </a:solidFill>
              </a:rPr>
              <a:t>●  </a:t>
            </a:r>
            <a:r>
              <a:rPr sz="1700" b="0" i="0">
                <a:solidFill>
                  <a:srgbClr val="222222"/>
                </a:solidFill>
                <a:latin typeface="Calibri"/>
              </a:rPr>
              <a:t>Computational efficiency</a:t>
            </a:r>
          </a:p>
          <a:p>
            <a:pPr>
              <a:spcAft>
                <a:spcPts val="500"/>
              </a:spcAft>
            </a:pPr>
            <a:r>
              <a:t>      –  </a:t>
            </a:r>
            <a:r>
              <a:rPr sz="1500" b="0" i="0">
                <a:solidFill>
                  <a:srgbClr val="222222"/>
                </a:solidFill>
                <a:latin typeface="Calibri"/>
              </a:rPr>
              <a:t>Trains on CPU in minutes to hours; inference in milliseconds — matches Uganda's uneven electricity access.</a:t>
            </a:r>
          </a:p>
          <a:p>
            <a:pPr>
              <a:spcAft>
                <a:spcPts val="900"/>
              </a:spcAft>
            </a:pPr>
            <a:r>
              <a:rPr sz="1700" b="1">
                <a:solidFill>
                  <a:srgbClr val="299BD6"/>
                </a:solidFill>
              </a:rPr>
              <a:t>●  </a:t>
            </a:r>
            <a:r>
              <a:rPr sz="1700" b="0" i="0">
                <a:solidFill>
                  <a:srgbClr val="222222"/>
                </a:solidFill>
                <a:latin typeface="Calibri"/>
              </a:rPr>
              <a:t>Small-dataset performance</a:t>
            </a:r>
          </a:p>
          <a:p>
            <a:pPr>
              <a:spcAft>
                <a:spcPts val="500"/>
              </a:spcAft>
            </a:pPr>
            <a:r>
              <a:t>      –  </a:t>
            </a:r>
            <a:r>
              <a:rPr sz="1500" b="0" i="0">
                <a:solidFill>
                  <a:srgbClr val="222222"/>
                </a:solidFill>
                <a:latin typeface="Calibri"/>
              </a:rPr>
              <a:t>Credible with 500–2,000 samples, versus 10,000+ typically needed for deep learning.</a:t>
            </a:r>
          </a:p>
          <a:p>
            <a:pPr>
              <a:spcAft>
                <a:spcPts val="900"/>
              </a:spcAft>
            </a:pPr>
            <a:r>
              <a:rPr sz="1700" b="1">
                <a:solidFill>
                  <a:srgbClr val="299BD6"/>
                </a:solidFill>
              </a:rPr>
              <a:t>●  </a:t>
            </a:r>
            <a:r>
              <a:rPr sz="1700" b="0" i="0">
                <a:solidFill>
                  <a:srgbClr val="222222"/>
                </a:solidFill>
                <a:latin typeface="Calibri"/>
              </a:rPr>
              <a:t>Robustness to field noise</a:t>
            </a:r>
          </a:p>
          <a:p>
            <a:pPr>
              <a:spcAft>
                <a:spcPts val="500"/>
              </a:spcAft>
            </a:pPr>
            <a:r>
              <a:t>      –  </a:t>
            </a:r>
            <a:r>
              <a:rPr sz="1500" b="0" i="0">
                <a:solidFill>
                  <a:srgbClr val="222222"/>
                </a:solidFill>
                <a:latin typeface="Calibri"/>
              </a:rPr>
              <a:t>The ensemble average is resilient to lighting variation, occlusion and camera-angle inconsistency.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256032" y="256032"/>
            <a:ext cx="11679631" cy="6345936"/>
          </a:xfrm>
          <a:prstGeom prst="rect">
            <a:avLst/>
          </a:prstGeom>
          <a:noFill/>
          <a:ln w="22225">
            <a:solidFill>
              <a:srgbClr val="C059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6032" y="6217920"/>
            <a:ext cx="11679631" cy="384048"/>
          </a:xfrm>
          <a:prstGeom prst="rect">
            <a:avLst/>
          </a:prstGeom>
          <a:solidFill>
            <a:srgbClr val="C05911"/>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100" b="1">
                <a:solidFill>
                  <a:srgbClr val="FFFFFF"/>
                </a:solidFill>
              </a:rPr>
              <a:t>Advanced Machine Learning — Course Work Two</a:t>
            </a:r>
          </a:p>
        </p:txBody>
      </p:sp>
      <p:sp>
        <p:nvSpPr>
          <p:cNvPr id="4" name="TextBox 3"/>
          <p:cNvSpPr txBox="1"/>
          <p:nvPr/>
        </p:nvSpPr>
        <p:spPr>
          <a:xfrm>
            <a:off x="9923983" y="6217920"/>
            <a:ext cx="1828800" cy="384048"/>
          </a:xfrm>
          <a:prstGeom prst="rect">
            <a:avLst/>
          </a:prstGeom>
          <a:noFill/>
        </p:spPr>
        <p:txBody>
          <a:bodyPr wrap="none" anchor="ctr">
            <a:spAutoFit/>
          </a:bodyPr>
          <a:lstStyle/>
          <a:p>
            <a:pPr algn="r"/>
            <a:r>
              <a:rPr sz="1100" b="1">
                <a:solidFill>
                  <a:srgbClr val="FFFFFF"/>
                </a:solidFill>
              </a:rPr>
              <a:t>12/08/2026</a:t>
            </a:r>
          </a:p>
        </p:txBody>
      </p:sp>
      <p:sp>
        <p:nvSpPr>
          <p:cNvPr id="5" name="TextBox 4"/>
          <p:cNvSpPr txBox="1"/>
          <p:nvPr/>
        </p:nvSpPr>
        <p:spPr>
          <a:xfrm>
            <a:off x="502920" y="292608"/>
            <a:ext cx="11185855" cy="777240"/>
          </a:xfrm>
          <a:prstGeom prst="rect">
            <a:avLst/>
          </a:prstGeom>
          <a:noFill/>
        </p:spPr>
        <p:txBody>
          <a:bodyPr wrap="square">
            <a:spAutoFit/>
          </a:bodyPr>
          <a:lstStyle/>
          <a:p>
            <a:pPr algn="ctr"/>
            <a:r>
              <a:rPr sz="2700" b="1">
                <a:solidFill>
                  <a:srgbClr val="C05911"/>
                </a:solidFill>
                <a:latin typeface="Calibri"/>
              </a:rPr>
              <a:t>Task 1: Why Support Vector Machine?</a:t>
            </a:r>
          </a:p>
        </p:txBody>
      </p:sp>
      <p:cxnSp>
        <p:nvCxnSpPr>
          <p:cNvPr id="6" name="Connector 5"/>
          <p:cNvCxnSpPr/>
          <p:nvPr/>
        </p:nvCxnSpPr>
        <p:spPr>
          <a:xfrm>
            <a:off x="914400" y="1097280"/>
            <a:ext cx="10362895" cy="0"/>
          </a:xfrm>
          <a:prstGeom prst="line">
            <a:avLst/>
          </a:prstGeom>
          <a:ln w="12700">
            <a:solidFill>
              <a:srgbClr val="C05911"/>
            </a:solidFill>
            <a:prstDash val="dash"/>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5912967" y="914400"/>
            <a:ext cx="365760" cy="365760"/>
          </a:xfrm>
          <a:prstGeom prst="ellipse">
            <a:avLst/>
          </a:prstGeom>
          <a:solidFill>
            <a:srgbClr val="FFFFFF"/>
          </a:solidFill>
          <a:ln w="15875">
            <a:solidFill>
              <a:srgbClr val="C0591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C05911"/>
                </a:solidFill>
              </a:rPr>
              <a:t>6</a:t>
            </a:r>
          </a:p>
        </p:txBody>
      </p:sp>
      <p:sp>
        <p:nvSpPr>
          <p:cNvPr id="8" name="TextBox 7"/>
          <p:cNvSpPr txBox="1"/>
          <p:nvPr/>
        </p:nvSpPr>
        <p:spPr>
          <a:xfrm>
            <a:off x="594360" y="1298448"/>
            <a:ext cx="11002975" cy="4846320"/>
          </a:xfrm>
          <a:prstGeom prst="rect">
            <a:avLst/>
          </a:prstGeom>
          <a:noFill/>
        </p:spPr>
        <p:txBody>
          <a:bodyPr wrap="square">
            <a:spAutoFit/>
          </a:bodyPr>
          <a:lstStyle/>
          <a:p>
            <a:pPr>
              <a:spcAft>
                <a:spcPts val="900"/>
              </a:spcAft>
            </a:pPr>
            <a:r>
              <a:rPr sz="1700" b="1">
                <a:solidFill>
                  <a:srgbClr val="299BD6"/>
                </a:solidFill>
              </a:rPr>
              <a:t>●  </a:t>
            </a:r>
            <a:r>
              <a:rPr sz="1700" b="1" i="0">
                <a:solidFill>
                  <a:srgbClr val="222222"/>
                </a:solidFill>
                <a:latin typeface="Calibri"/>
              </a:rPr>
              <a:t>Definition: </a:t>
            </a:r>
            <a:r>
              <a:rPr sz="1700" b="0" i="0">
                <a:solidFill>
                  <a:srgbClr val="222222"/>
                </a:solidFill>
                <a:latin typeface="Calibri"/>
              </a:rPr>
              <a:t>finds the hyperplane that maximises the margin between classes, optionally in a kernel-induced higher-dimensional space.</a:t>
            </a:r>
          </a:p>
          <a:p>
            <a:pPr>
              <a:spcAft>
                <a:spcPts val="900"/>
              </a:spcAft>
            </a:pPr>
            <a:r>
              <a:rPr sz="1700" b="1">
                <a:solidFill>
                  <a:srgbClr val="299BD6"/>
                </a:solidFill>
              </a:rPr>
              <a:t>●  </a:t>
            </a:r>
            <a:r>
              <a:rPr sz="1700" b="0" i="0">
                <a:solidFill>
                  <a:srgbClr val="222222"/>
                </a:solidFill>
                <a:latin typeface="Calibri"/>
              </a:rPr>
              <a:t>High-dimensional, non-linear performance</a:t>
            </a:r>
          </a:p>
          <a:p>
            <a:pPr>
              <a:spcAft>
                <a:spcPts val="500"/>
              </a:spcAft>
            </a:pPr>
            <a:r>
              <a:t>      –  </a:t>
            </a:r>
            <a:r>
              <a:rPr sz="1500" b="0" i="0">
                <a:solidFill>
                  <a:srgbClr val="222222"/>
                </a:solidFill>
                <a:latin typeface="Calibri"/>
              </a:rPr>
              <a:t>The RBF kernel trick models complex disease-colour boundaries without paying the cost of an explicit higher-dimensional mapping.</a:t>
            </a:r>
          </a:p>
          <a:p>
            <a:pPr>
              <a:spcAft>
                <a:spcPts val="900"/>
              </a:spcAft>
            </a:pPr>
            <a:r>
              <a:rPr sz="1700" b="1">
                <a:solidFill>
                  <a:srgbClr val="299BD6"/>
                </a:solidFill>
              </a:rPr>
              <a:t>●  </a:t>
            </a:r>
            <a:r>
              <a:rPr sz="1700" b="0" i="0">
                <a:solidFill>
                  <a:srgbClr val="222222"/>
                </a:solidFill>
                <a:latin typeface="Calibri"/>
              </a:rPr>
              <a:t>Outlier robustness</a:t>
            </a:r>
          </a:p>
          <a:p>
            <a:pPr>
              <a:spcAft>
                <a:spcPts val="500"/>
              </a:spcAft>
            </a:pPr>
            <a:r>
              <a:t>      –  </a:t>
            </a:r>
            <a:r>
              <a:rPr sz="1500" b="0" i="0">
                <a:solidFill>
                  <a:srgbClr val="222222"/>
                </a:solidFill>
                <a:latin typeface="Calibri"/>
              </a:rPr>
              <a:t>The soft-margin (C-SVM) formulation tolerates atypical leaves without destabilising the whole boundary.</a:t>
            </a:r>
          </a:p>
          <a:p>
            <a:pPr>
              <a:spcAft>
                <a:spcPts val="900"/>
              </a:spcAft>
            </a:pPr>
            <a:r>
              <a:rPr sz="1700" b="1">
                <a:solidFill>
                  <a:srgbClr val="299BD6"/>
                </a:solidFill>
              </a:rPr>
              <a:t>●  </a:t>
            </a:r>
            <a:r>
              <a:rPr sz="1700" b="0" i="0">
                <a:solidFill>
                  <a:srgbClr val="222222"/>
                </a:solidFill>
                <a:latin typeface="Calibri"/>
              </a:rPr>
              <a:t>Memory efficiency at inference</a:t>
            </a:r>
          </a:p>
          <a:p>
            <a:pPr>
              <a:spcAft>
                <a:spcPts val="500"/>
              </a:spcAft>
            </a:pPr>
            <a:r>
              <a:t>      –  </a:t>
            </a:r>
            <a:r>
              <a:rPr sz="1500" b="0" i="0">
                <a:solidFill>
                  <a:srgbClr val="222222"/>
                </a:solidFill>
                <a:latin typeface="Calibri"/>
              </a:rPr>
              <a:t>Only the support vectors — typically 5–20% of training data — are needed to classify a new leaf.</a:t>
            </a:r>
          </a:p>
          <a:p>
            <a:pPr>
              <a:spcAft>
                <a:spcPts val="900"/>
              </a:spcAft>
            </a:pPr>
            <a:r>
              <a:rPr sz="1700" b="1">
                <a:solidFill>
                  <a:srgbClr val="299BD6"/>
                </a:solidFill>
              </a:rPr>
              <a:t>●  </a:t>
            </a:r>
            <a:r>
              <a:rPr sz="1700" b="0" i="0">
                <a:solidFill>
                  <a:srgbClr val="222222"/>
                </a:solidFill>
                <a:latin typeface="Calibri"/>
              </a:rPr>
              <a:t>Calibrated confidence scores</a:t>
            </a:r>
          </a:p>
          <a:p>
            <a:pPr>
              <a:spcAft>
                <a:spcPts val="500"/>
              </a:spcAft>
            </a:pPr>
            <a:r>
              <a:t>      –  </a:t>
            </a:r>
            <a:r>
              <a:rPr sz="1500" b="0" i="0">
                <a:solidFill>
                  <a:srgbClr val="222222"/>
                </a:solidFill>
                <a:latin typeface="Calibri"/>
              </a:rPr>
              <a:t>Platt-scaled probabilities tell a farmer when to seek expert opinion rather than trust the label blindly.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256032" y="256032"/>
            <a:ext cx="11679631" cy="6345936"/>
          </a:xfrm>
          <a:prstGeom prst="rect">
            <a:avLst/>
          </a:prstGeom>
          <a:noFill/>
          <a:ln w="22225">
            <a:solidFill>
              <a:srgbClr val="C059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6032" y="6217920"/>
            <a:ext cx="11679631" cy="384048"/>
          </a:xfrm>
          <a:prstGeom prst="rect">
            <a:avLst/>
          </a:prstGeom>
          <a:solidFill>
            <a:srgbClr val="C05911"/>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100" b="1">
                <a:solidFill>
                  <a:srgbClr val="FFFFFF"/>
                </a:solidFill>
              </a:rPr>
              <a:t>Advanced Machine Learning — Course Work Two</a:t>
            </a:r>
          </a:p>
        </p:txBody>
      </p:sp>
      <p:sp>
        <p:nvSpPr>
          <p:cNvPr id="4" name="TextBox 3"/>
          <p:cNvSpPr txBox="1"/>
          <p:nvPr/>
        </p:nvSpPr>
        <p:spPr>
          <a:xfrm>
            <a:off x="9923983" y="6217920"/>
            <a:ext cx="1828800" cy="384048"/>
          </a:xfrm>
          <a:prstGeom prst="rect">
            <a:avLst/>
          </a:prstGeom>
          <a:noFill/>
        </p:spPr>
        <p:txBody>
          <a:bodyPr wrap="none" anchor="ctr">
            <a:spAutoFit/>
          </a:bodyPr>
          <a:lstStyle/>
          <a:p>
            <a:pPr algn="r"/>
            <a:r>
              <a:rPr sz="1100" b="1">
                <a:solidFill>
                  <a:srgbClr val="FFFFFF"/>
                </a:solidFill>
              </a:rPr>
              <a:t>12/08/2026</a:t>
            </a:r>
          </a:p>
        </p:txBody>
      </p:sp>
      <p:sp>
        <p:nvSpPr>
          <p:cNvPr id="5" name="TextBox 4"/>
          <p:cNvSpPr txBox="1"/>
          <p:nvPr/>
        </p:nvSpPr>
        <p:spPr>
          <a:xfrm>
            <a:off x="502920" y="292608"/>
            <a:ext cx="11185855" cy="777240"/>
          </a:xfrm>
          <a:prstGeom prst="rect">
            <a:avLst/>
          </a:prstGeom>
          <a:noFill/>
        </p:spPr>
        <p:txBody>
          <a:bodyPr wrap="square">
            <a:spAutoFit/>
          </a:bodyPr>
          <a:lstStyle/>
          <a:p>
            <a:pPr algn="ctr"/>
            <a:r>
              <a:rPr sz="2700" b="1">
                <a:solidFill>
                  <a:srgbClr val="C05911"/>
                </a:solidFill>
                <a:latin typeface="Calibri"/>
              </a:rPr>
              <a:t>Task 1: The Decision and Its Trade-off</a:t>
            </a:r>
          </a:p>
        </p:txBody>
      </p:sp>
      <p:cxnSp>
        <p:nvCxnSpPr>
          <p:cNvPr id="6" name="Connector 5"/>
          <p:cNvCxnSpPr/>
          <p:nvPr/>
        </p:nvCxnSpPr>
        <p:spPr>
          <a:xfrm>
            <a:off x="914400" y="1097280"/>
            <a:ext cx="10362895" cy="0"/>
          </a:xfrm>
          <a:prstGeom prst="line">
            <a:avLst/>
          </a:prstGeom>
          <a:ln w="12700">
            <a:solidFill>
              <a:srgbClr val="C05911"/>
            </a:solidFill>
            <a:prstDash val="dash"/>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5912967" y="914400"/>
            <a:ext cx="365760" cy="365760"/>
          </a:xfrm>
          <a:prstGeom prst="ellipse">
            <a:avLst/>
          </a:prstGeom>
          <a:solidFill>
            <a:srgbClr val="FFFFFF"/>
          </a:solidFill>
          <a:ln w="15875">
            <a:solidFill>
              <a:srgbClr val="C0591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C05911"/>
                </a:solidFill>
              </a:rPr>
              <a:t>7</a:t>
            </a:r>
          </a:p>
        </p:txBody>
      </p:sp>
      <p:sp>
        <p:nvSpPr>
          <p:cNvPr id="8" name="TextBox 7"/>
          <p:cNvSpPr txBox="1"/>
          <p:nvPr/>
        </p:nvSpPr>
        <p:spPr>
          <a:xfrm>
            <a:off x="594360" y="1298448"/>
            <a:ext cx="11002975" cy="4846320"/>
          </a:xfrm>
          <a:prstGeom prst="rect">
            <a:avLst/>
          </a:prstGeom>
          <a:noFill/>
        </p:spPr>
        <p:txBody>
          <a:bodyPr wrap="square">
            <a:spAutoFit/>
          </a:bodyPr>
          <a:lstStyle/>
          <a:p>
            <a:pPr>
              <a:spcAft>
                <a:spcPts val="900"/>
              </a:spcAft>
            </a:pPr>
            <a:r>
              <a:rPr sz="1800" b="1">
                <a:solidFill>
                  <a:srgbClr val="299BD6"/>
                </a:solidFill>
              </a:rPr>
              <a:t>●  </a:t>
            </a:r>
            <a:r>
              <a:rPr sz="1800" b="0" i="0">
                <a:solidFill>
                  <a:srgbClr val="222222"/>
                </a:solidFill>
                <a:latin typeface="Calibri"/>
              </a:rPr>
              <a:t>Deep learning (e.g. Thakur et al., 2024's SUNet) achieves </a:t>
            </a:r>
            <a:r>
              <a:rPr sz="1800" b="1" i="1">
                <a:solidFill>
                  <a:srgbClr val="C05911"/>
                </a:solidFill>
                <a:latin typeface="Calibri"/>
              </a:rPr>
              <a:t>98.45% accuracy</a:t>
            </a:r>
            <a:r>
              <a:rPr sz="1800" b="0" i="0">
                <a:solidFill>
                  <a:srgbClr val="222222"/>
                </a:solidFill>
                <a:latin typeface="Calibri"/>
              </a:rPr>
              <a:t> — the highest in the reviewed literature.</a:t>
            </a:r>
          </a:p>
          <a:p>
            <a:pPr>
              <a:spcAft>
                <a:spcPts val="900"/>
              </a:spcAft>
            </a:pPr>
            <a:r>
              <a:rPr sz="1800" b="1">
                <a:solidFill>
                  <a:srgbClr val="299BD6"/>
                </a:solidFill>
              </a:rPr>
              <a:t>●  </a:t>
            </a:r>
            <a:r>
              <a:rPr sz="1800" b="0" i="0">
                <a:solidFill>
                  <a:srgbClr val="222222"/>
                </a:solidFill>
                <a:latin typeface="Calibri"/>
              </a:rPr>
              <a:t>But SUNet requires an NVIDIA Tesla V100 GPU, 128GB RAM, and 2TB storage — entirely infeasible for smallholder-facing deployment.</a:t>
            </a:r>
          </a:p>
          <a:p>
            <a:pPr>
              <a:spcAft>
                <a:spcPts val="400"/>
              </a:spcAft>
            </a:pPr>
          </a:p>
          <a:p>
            <a:pPr>
              <a:spcAft>
                <a:spcPts val="900"/>
              </a:spcAft>
            </a:pPr>
            <a:r>
              <a:rPr sz="1800" b="1">
                <a:solidFill>
                  <a:srgbClr val="299BD6"/>
                </a:solidFill>
              </a:rPr>
              <a:t>●  </a:t>
            </a:r>
            <a:r>
              <a:rPr sz="1800" b="1" i="0">
                <a:solidFill>
                  <a:srgbClr val="222222"/>
                </a:solidFill>
                <a:latin typeface="Calibri"/>
              </a:rPr>
              <a:t>Decision: </a:t>
            </a:r>
            <a:r>
              <a:rPr sz="1800" b="0" i="0">
                <a:solidFill>
                  <a:srgbClr val="222222"/>
                </a:solidFill>
                <a:latin typeface="Calibri"/>
              </a:rPr>
              <a:t>Random Forest and SVM chosen for initial development, resource-constrained deployment, interpretability, and cost-effective implementation.</a:t>
            </a:r>
          </a:p>
          <a:p>
            <a:pPr>
              <a:spcAft>
                <a:spcPts val="900"/>
              </a:spcAft>
            </a:pPr>
            <a:r>
              <a:rPr sz="1800" b="1">
                <a:solidFill>
                  <a:srgbClr val="299BD6"/>
                </a:solidFill>
              </a:rPr>
              <a:t>●  </a:t>
            </a:r>
            <a:r>
              <a:rPr sz="1800" b="1" i="1">
                <a:solidFill>
                  <a:srgbClr val="C05911"/>
                </a:solidFill>
                <a:latin typeface="Calibri"/>
              </a:rPr>
              <a:t>This is a deliberate, acknowledged trade-off </a:t>
            </a:r>
            <a:r>
              <a:rPr sz="1800" b="0" i="0">
                <a:solidFill>
                  <a:srgbClr val="222222"/>
                </a:solidFill>
                <a:latin typeface="Calibri"/>
              </a:rPr>
              <a:t>of roughly 4–6 accuracy points, argued on accessibility grounds — revisited honestly in the final critical-reflection section.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256032" y="256032"/>
            <a:ext cx="11679631" cy="6345936"/>
          </a:xfrm>
          <a:prstGeom prst="rect">
            <a:avLst/>
          </a:prstGeom>
          <a:noFill/>
          <a:ln w="22225">
            <a:solidFill>
              <a:srgbClr val="C059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6032" y="6217920"/>
            <a:ext cx="11679631" cy="384048"/>
          </a:xfrm>
          <a:prstGeom prst="rect">
            <a:avLst/>
          </a:prstGeom>
          <a:solidFill>
            <a:srgbClr val="C05911"/>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100" b="1">
                <a:solidFill>
                  <a:srgbClr val="FFFFFF"/>
                </a:solidFill>
              </a:rPr>
              <a:t>Advanced Machine Learning — Course Work Two</a:t>
            </a:r>
          </a:p>
        </p:txBody>
      </p:sp>
      <p:sp>
        <p:nvSpPr>
          <p:cNvPr id="4" name="TextBox 3"/>
          <p:cNvSpPr txBox="1"/>
          <p:nvPr/>
        </p:nvSpPr>
        <p:spPr>
          <a:xfrm>
            <a:off x="9923983" y="6217920"/>
            <a:ext cx="1828800" cy="384048"/>
          </a:xfrm>
          <a:prstGeom prst="rect">
            <a:avLst/>
          </a:prstGeom>
          <a:noFill/>
        </p:spPr>
        <p:txBody>
          <a:bodyPr wrap="none" anchor="ctr">
            <a:spAutoFit/>
          </a:bodyPr>
          <a:lstStyle/>
          <a:p>
            <a:pPr algn="r"/>
            <a:r>
              <a:rPr sz="1100" b="1">
                <a:solidFill>
                  <a:srgbClr val="FFFFFF"/>
                </a:solidFill>
              </a:rPr>
              <a:t>12/08/2026</a:t>
            </a:r>
          </a:p>
        </p:txBody>
      </p:sp>
      <p:sp>
        <p:nvSpPr>
          <p:cNvPr id="5" name="TextBox 4"/>
          <p:cNvSpPr txBox="1"/>
          <p:nvPr/>
        </p:nvSpPr>
        <p:spPr>
          <a:xfrm>
            <a:off x="502920" y="292608"/>
            <a:ext cx="11185855" cy="777240"/>
          </a:xfrm>
          <a:prstGeom prst="rect">
            <a:avLst/>
          </a:prstGeom>
          <a:noFill/>
        </p:spPr>
        <p:txBody>
          <a:bodyPr wrap="square">
            <a:spAutoFit/>
          </a:bodyPr>
          <a:lstStyle/>
          <a:p>
            <a:pPr algn="ctr"/>
            <a:r>
              <a:rPr sz="2700" b="1">
                <a:solidFill>
                  <a:srgbClr val="C05911"/>
                </a:solidFill>
                <a:latin typeface="Calibri"/>
              </a:rPr>
              <a:t>Task 1: Random Forest — Real-World Applications</a:t>
            </a:r>
          </a:p>
        </p:txBody>
      </p:sp>
      <p:cxnSp>
        <p:nvCxnSpPr>
          <p:cNvPr id="6" name="Connector 5"/>
          <p:cNvCxnSpPr/>
          <p:nvPr/>
        </p:nvCxnSpPr>
        <p:spPr>
          <a:xfrm>
            <a:off x="914400" y="1097280"/>
            <a:ext cx="10362895" cy="0"/>
          </a:xfrm>
          <a:prstGeom prst="line">
            <a:avLst/>
          </a:prstGeom>
          <a:ln w="12700">
            <a:solidFill>
              <a:srgbClr val="C05911"/>
            </a:solidFill>
            <a:prstDash val="dash"/>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5912967" y="914400"/>
            <a:ext cx="365760" cy="365760"/>
          </a:xfrm>
          <a:prstGeom prst="ellipse">
            <a:avLst/>
          </a:prstGeom>
          <a:solidFill>
            <a:srgbClr val="FFFFFF"/>
          </a:solidFill>
          <a:ln w="15875">
            <a:solidFill>
              <a:srgbClr val="C0591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C05911"/>
                </a:solidFill>
              </a:rPr>
              <a:t>8</a:t>
            </a:r>
          </a:p>
        </p:txBody>
      </p:sp>
      <p:sp>
        <p:nvSpPr>
          <p:cNvPr id="8" name="TextBox 7"/>
          <p:cNvSpPr txBox="1"/>
          <p:nvPr/>
        </p:nvSpPr>
        <p:spPr>
          <a:xfrm>
            <a:off x="594360" y="1298448"/>
            <a:ext cx="11002975" cy="4846320"/>
          </a:xfrm>
          <a:prstGeom prst="rect">
            <a:avLst/>
          </a:prstGeom>
          <a:noFill/>
        </p:spPr>
        <p:txBody>
          <a:bodyPr wrap="square">
            <a:spAutoFit/>
          </a:bodyPr>
          <a:lstStyle/>
          <a:p>
            <a:pPr>
              <a:spcAft>
                <a:spcPts val="900"/>
              </a:spcAft>
            </a:pPr>
            <a:r>
              <a:rPr sz="1800" b="1">
                <a:solidFill>
                  <a:srgbClr val="299BD6"/>
                </a:solidFill>
              </a:rPr>
              <a:t>●  </a:t>
            </a:r>
            <a:r>
              <a:rPr sz="1800" b="1" i="0">
                <a:solidFill>
                  <a:srgbClr val="222222"/>
                </a:solidFill>
                <a:latin typeface="Calibri"/>
              </a:rPr>
              <a:t>PlantVillage Initiative: </a:t>
            </a:r>
            <a:r>
              <a:rPr sz="1800" b="0" i="0">
                <a:solidFill>
                  <a:srgbClr val="222222"/>
                </a:solidFill>
                <a:latin typeface="Calibri"/>
              </a:rPr>
              <a:t>global crop-disease identification from smartphone images — 85–90% accuracy on tomato, potato and corn leaf disease.</a:t>
            </a:r>
          </a:p>
          <a:p>
            <a:pPr>
              <a:spcAft>
                <a:spcPts val="900"/>
              </a:spcAft>
            </a:pPr>
            <a:r>
              <a:rPr sz="1800" b="1">
                <a:solidFill>
                  <a:srgbClr val="299BD6"/>
                </a:solidFill>
              </a:rPr>
              <a:t>●  </a:t>
            </a:r>
            <a:r>
              <a:rPr sz="1800" b="1" i="0">
                <a:solidFill>
                  <a:srgbClr val="222222"/>
                </a:solidFill>
                <a:latin typeface="Calibri"/>
              </a:rPr>
              <a:t>FAO Land Use/Cover Classification: </a:t>
            </a:r>
            <a:r>
              <a:rPr sz="1800" b="0" i="0">
                <a:solidFill>
                  <a:srgbClr val="222222"/>
                </a:solidFill>
                <a:latin typeface="Calibri"/>
              </a:rPr>
              <a:t>crop-type identification from satellite/drone imagery — RF generalised better than SVM under limited labelled samples.</a:t>
            </a:r>
          </a:p>
          <a:p>
            <a:pPr>
              <a:spcAft>
                <a:spcPts val="900"/>
              </a:spcAft>
            </a:pPr>
            <a:r>
              <a:rPr sz="1800" b="1">
                <a:solidFill>
                  <a:srgbClr val="299BD6"/>
                </a:solidFill>
              </a:rPr>
              <a:t>●  </a:t>
            </a:r>
            <a:r>
              <a:rPr sz="1800" b="1" i="0">
                <a:solidFill>
                  <a:srgbClr val="222222"/>
                </a:solidFill>
                <a:latin typeface="Calibri"/>
              </a:rPr>
              <a:t>Malaria Parasite Detection: </a:t>
            </a:r>
            <a:r>
              <a:rPr sz="1800" b="0" i="0">
                <a:solidFill>
                  <a:srgbClr val="222222"/>
                </a:solidFill>
                <a:latin typeface="Calibri"/>
              </a:rPr>
              <a:t>low-resource, offline diagnostic settings — RF outperformed more complex classifiers when training data was limited.</a:t>
            </a:r>
          </a:p>
          <a:p>
            <a:pPr>
              <a:spcAft>
                <a:spcPts val="400"/>
              </a:spcAft>
            </a:pPr>
          </a:p>
          <a:p>
            <a:pPr>
              <a:spcAft>
                <a:spcPts val="900"/>
              </a:spcAft>
            </a:pPr>
            <a:r>
              <a:rPr sz="1800" b="1">
                <a:solidFill>
                  <a:srgbClr val="299BD6"/>
                </a:solidFill>
              </a:rPr>
              <a:t>●  </a:t>
            </a:r>
            <a:r>
              <a:rPr sz="1800" b="1" i="1">
                <a:solidFill>
                  <a:srgbClr val="C05911"/>
                </a:solidFill>
                <a:latin typeface="Calibri"/>
              </a:rPr>
              <a:t>Common thread: </a:t>
            </a:r>
            <a:r>
              <a:rPr sz="1800" b="0" i="0">
                <a:solidFill>
                  <a:srgbClr val="222222"/>
                </a:solidFill>
                <a:latin typeface="Calibri"/>
              </a:rPr>
              <a:t>every case shares this coursework's profile — offline, resource-constrained, accuracy-vs-interpretability trade-off.</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256032" y="256032"/>
            <a:ext cx="11679631" cy="6345936"/>
          </a:xfrm>
          <a:prstGeom prst="rect">
            <a:avLst/>
          </a:prstGeom>
          <a:noFill/>
          <a:ln w="22225">
            <a:solidFill>
              <a:srgbClr val="C059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6032" y="6217920"/>
            <a:ext cx="11679631" cy="384048"/>
          </a:xfrm>
          <a:prstGeom prst="rect">
            <a:avLst/>
          </a:prstGeom>
          <a:solidFill>
            <a:srgbClr val="C05911"/>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100" b="1">
                <a:solidFill>
                  <a:srgbClr val="FFFFFF"/>
                </a:solidFill>
              </a:rPr>
              <a:t>Advanced Machine Learning — Course Work Two</a:t>
            </a:r>
          </a:p>
        </p:txBody>
      </p:sp>
      <p:sp>
        <p:nvSpPr>
          <p:cNvPr id="4" name="TextBox 3"/>
          <p:cNvSpPr txBox="1"/>
          <p:nvPr/>
        </p:nvSpPr>
        <p:spPr>
          <a:xfrm>
            <a:off x="9923983" y="6217920"/>
            <a:ext cx="1828800" cy="384048"/>
          </a:xfrm>
          <a:prstGeom prst="rect">
            <a:avLst/>
          </a:prstGeom>
          <a:noFill/>
        </p:spPr>
        <p:txBody>
          <a:bodyPr wrap="none" anchor="ctr">
            <a:spAutoFit/>
          </a:bodyPr>
          <a:lstStyle/>
          <a:p>
            <a:pPr algn="r"/>
            <a:r>
              <a:rPr sz="1100" b="1">
                <a:solidFill>
                  <a:srgbClr val="FFFFFF"/>
                </a:solidFill>
              </a:rPr>
              <a:t>12/08/2026</a:t>
            </a:r>
          </a:p>
        </p:txBody>
      </p:sp>
      <p:sp>
        <p:nvSpPr>
          <p:cNvPr id="5" name="TextBox 4"/>
          <p:cNvSpPr txBox="1"/>
          <p:nvPr/>
        </p:nvSpPr>
        <p:spPr>
          <a:xfrm>
            <a:off x="502920" y="292608"/>
            <a:ext cx="11185855" cy="777240"/>
          </a:xfrm>
          <a:prstGeom prst="rect">
            <a:avLst/>
          </a:prstGeom>
          <a:noFill/>
        </p:spPr>
        <p:txBody>
          <a:bodyPr wrap="square">
            <a:spAutoFit/>
          </a:bodyPr>
          <a:lstStyle/>
          <a:p>
            <a:pPr algn="ctr"/>
            <a:r>
              <a:rPr sz="2700" b="1">
                <a:solidFill>
                  <a:srgbClr val="C05911"/>
                </a:solidFill>
                <a:latin typeface="Calibri"/>
              </a:rPr>
              <a:t>Task 1: SVM — Real-World Applications</a:t>
            </a:r>
          </a:p>
        </p:txBody>
      </p:sp>
      <p:cxnSp>
        <p:nvCxnSpPr>
          <p:cNvPr id="6" name="Connector 5"/>
          <p:cNvCxnSpPr/>
          <p:nvPr/>
        </p:nvCxnSpPr>
        <p:spPr>
          <a:xfrm>
            <a:off x="914400" y="1097280"/>
            <a:ext cx="10362895" cy="0"/>
          </a:xfrm>
          <a:prstGeom prst="line">
            <a:avLst/>
          </a:prstGeom>
          <a:ln w="12700">
            <a:solidFill>
              <a:srgbClr val="C05911"/>
            </a:solidFill>
            <a:prstDash val="dash"/>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5912967" y="914400"/>
            <a:ext cx="365760" cy="365760"/>
          </a:xfrm>
          <a:prstGeom prst="ellipse">
            <a:avLst/>
          </a:prstGeom>
          <a:solidFill>
            <a:srgbClr val="FFFFFF"/>
          </a:solidFill>
          <a:ln w="15875">
            <a:solidFill>
              <a:srgbClr val="C0591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C05911"/>
                </a:solidFill>
              </a:rPr>
              <a:t>9</a:t>
            </a:r>
          </a:p>
        </p:txBody>
      </p:sp>
      <p:sp>
        <p:nvSpPr>
          <p:cNvPr id="8" name="TextBox 7"/>
          <p:cNvSpPr txBox="1"/>
          <p:nvPr/>
        </p:nvSpPr>
        <p:spPr>
          <a:xfrm>
            <a:off x="594360" y="1298448"/>
            <a:ext cx="11002975" cy="4846320"/>
          </a:xfrm>
          <a:prstGeom prst="rect">
            <a:avLst/>
          </a:prstGeom>
          <a:noFill/>
        </p:spPr>
        <p:txBody>
          <a:bodyPr wrap="square">
            <a:spAutoFit/>
          </a:bodyPr>
          <a:lstStyle/>
          <a:p>
            <a:pPr>
              <a:spcAft>
                <a:spcPts val="900"/>
              </a:spcAft>
            </a:pPr>
            <a:r>
              <a:rPr sz="1800" b="1">
                <a:solidFill>
                  <a:srgbClr val="299BD6"/>
                </a:solidFill>
              </a:rPr>
              <a:t>●  </a:t>
            </a:r>
            <a:r>
              <a:rPr sz="1800" b="1" i="0">
                <a:solidFill>
                  <a:srgbClr val="222222"/>
                </a:solidFill>
                <a:latin typeface="Calibri"/>
              </a:rPr>
              <a:t>Sugarcane and Wheat Disease Classification: </a:t>
            </a:r>
            <a:r>
              <a:rPr sz="1800" b="0" i="0">
                <a:solidFill>
                  <a:srgbClr val="222222"/>
                </a:solidFill>
                <a:latin typeface="Calibri"/>
              </a:rPr>
              <a:t>SVM with RBF kernel achieved 88–94% accuracy distinguishing diseased vs. healthy leaves.</a:t>
            </a:r>
          </a:p>
          <a:p>
            <a:pPr>
              <a:spcAft>
                <a:spcPts val="900"/>
              </a:spcAft>
            </a:pPr>
            <a:r>
              <a:rPr sz="1800" b="1">
                <a:solidFill>
                  <a:srgbClr val="299BD6"/>
                </a:solidFill>
              </a:rPr>
              <a:t>●  </a:t>
            </a:r>
            <a:r>
              <a:rPr sz="1800" b="1" i="0">
                <a:solidFill>
                  <a:srgbClr val="222222"/>
                </a:solidFill>
                <a:latin typeface="Calibri"/>
              </a:rPr>
              <a:t>Powdery Mildew Detection on Wheat: </a:t>
            </a:r>
            <a:r>
              <a:rPr sz="1800" b="0" i="0">
                <a:solidFill>
                  <a:srgbClr val="222222"/>
                </a:solidFill>
                <a:latin typeface="Calibri"/>
              </a:rPr>
              <a:t>real-time classification across disease progression stages, with balanced precision-recall.</a:t>
            </a:r>
          </a:p>
          <a:p>
            <a:pPr>
              <a:spcAft>
                <a:spcPts val="900"/>
              </a:spcAft>
            </a:pPr>
            <a:r>
              <a:rPr sz="1800" b="1">
                <a:solidFill>
                  <a:srgbClr val="299BD6"/>
                </a:solidFill>
              </a:rPr>
              <a:t>●  </a:t>
            </a:r>
            <a:r>
              <a:rPr sz="1800" b="1" i="0">
                <a:solidFill>
                  <a:srgbClr val="222222"/>
                </a:solidFill>
                <a:latin typeface="Calibri"/>
              </a:rPr>
              <a:t>Feature-Based Bird Species Classification: </a:t>
            </a:r>
            <a:r>
              <a:rPr sz="1800" b="0" i="0">
                <a:solidFill>
                  <a:srgbClr val="222222"/>
                </a:solidFill>
                <a:latin typeface="Calibri"/>
              </a:rPr>
              <a:t>carefully engineered features + SVM outperformed deep learning on small, resource-constrained datasets.</a:t>
            </a:r>
          </a:p>
          <a:p>
            <a:pPr>
              <a:spcAft>
                <a:spcPts val="400"/>
              </a:spcAft>
            </a:pPr>
          </a:p>
          <a:p>
            <a:pPr>
              <a:spcAft>
                <a:spcPts val="900"/>
              </a:spcAft>
            </a:pPr>
            <a:r>
              <a:rPr sz="1800" b="1">
                <a:solidFill>
                  <a:srgbClr val="299BD6"/>
                </a:solidFill>
              </a:rPr>
              <a:t>●  </a:t>
            </a:r>
            <a:r>
              <a:rPr sz="1800" b="1" i="1">
                <a:solidFill>
                  <a:srgbClr val="C05911"/>
                </a:solidFill>
                <a:latin typeface="Calibri"/>
              </a:rPr>
              <a:t>Combined RF + SVM ensembles </a:t>
            </a:r>
            <a:r>
              <a:rPr sz="1800" b="0" i="0">
                <a:solidFill>
                  <a:srgbClr val="222222"/>
                </a:solidFill>
                <a:latin typeface="Calibri"/>
              </a:rPr>
              <a:t>are already used in medical diagnostics: RF contributes feature-space diversity, SVM contributes precise geometric separation — directly motivating Task 4's proposed solution.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256032" y="256032"/>
            <a:ext cx="11679631" cy="6345936"/>
          </a:xfrm>
          <a:prstGeom prst="rect">
            <a:avLst/>
          </a:prstGeom>
          <a:noFill/>
          <a:ln w="22225">
            <a:solidFill>
              <a:srgbClr val="C059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6032" y="6217920"/>
            <a:ext cx="11679631" cy="384048"/>
          </a:xfrm>
          <a:prstGeom prst="rect">
            <a:avLst/>
          </a:prstGeom>
          <a:solidFill>
            <a:srgbClr val="C05911"/>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100" b="1">
                <a:solidFill>
                  <a:srgbClr val="FFFFFF"/>
                </a:solidFill>
              </a:rPr>
              <a:t>Advanced Machine Learning — Course Work Two</a:t>
            </a:r>
          </a:p>
        </p:txBody>
      </p:sp>
      <p:sp>
        <p:nvSpPr>
          <p:cNvPr id="4" name="TextBox 3"/>
          <p:cNvSpPr txBox="1"/>
          <p:nvPr/>
        </p:nvSpPr>
        <p:spPr>
          <a:xfrm>
            <a:off x="9923983" y="6217920"/>
            <a:ext cx="1828800" cy="384048"/>
          </a:xfrm>
          <a:prstGeom prst="rect">
            <a:avLst/>
          </a:prstGeom>
          <a:noFill/>
        </p:spPr>
        <p:txBody>
          <a:bodyPr wrap="none" anchor="ctr">
            <a:spAutoFit/>
          </a:bodyPr>
          <a:lstStyle/>
          <a:p>
            <a:pPr algn="r"/>
            <a:r>
              <a:rPr sz="1100" b="1">
                <a:solidFill>
                  <a:srgbClr val="FFFFFF"/>
                </a:solidFill>
              </a:rPr>
              <a:t>12/08/2026</a:t>
            </a:r>
          </a:p>
        </p:txBody>
      </p:sp>
      <p:sp>
        <p:nvSpPr>
          <p:cNvPr id="5" name="TextBox 4"/>
          <p:cNvSpPr txBox="1"/>
          <p:nvPr/>
        </p:nvSpPr>
        <p:spPr>
          <a:xfrm>
            <a:off x="502920" y="292608"/>
            <a:ext cx="11185855" cy="777240"/>
          </a:xfrm>
          <a:prstGeom prst="rect">
            <a:avLst/>
          </a:prstGeom>
          <a:noFill/>
        </p:spPr>
        <p:txBody>
          <a:bodyPr wrap="square">
            <a:spAutoFit/>
          </a:bodyPr>
          <a:lstStyle/>
          <a:p>
            <a:pPr algn="ctr"/>
            <a:r>
              <a:rPr sz="2700" b="1">
                <a:solidFill>
                  <a:srgbClr val="C05911"/>
                </a:solidFill>
                <a:latin typeface="Calibri"/>
              </a:rPr>
              <a:t>Task 2: Dataset and Objective</a:t>
            </a:r>
          </a:p>
        </p:txBody>
      </p:sp>
      <p:cxnSp>
        <p:nvCxnSpPr>
          <p:cNvPr id="6" name="Connector 5"/>
          <p:cNvCxnSpPr/>
          <p:nvPr/>
        </p:nvCxnSpPr>
        <p:spPr>
          <a:xfrm>
            <a:off x="914400" y="1097280"/>
            <a:ext cx="10362895" cy="0"/>
          </a:xfrm>
          <a:prstGeom prst="line">
            <a:avLst/>
          </a:prstGeom>
          <a:ln w="12700">
            <a:solidFill>
              <a:srgbClr val="C05911"/>
            </a:solidFill>
            <a:prstDash val="dash"/>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5912967" y="914400"/>
            <a:ext cx="365760" cy="365760"/>
          </a:xfrm>
          <a:prstGeom prst="ellipse">
            <a:avLst/>
          </a:prstGeom>
          <a:solidFill>
            <a:srgbClr val="FFFFFF"/>
          </a:solidFill>
          <a:ln w="15875">
            <a:solidFill>
              <a:srgbClr val="C0591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C05911"/>
                </a:solidFill>
              </a:rPr>
              <a:t>10</a:t>
            </a:r>
          </a:p>
        </p:txBody>
      </p:sp>
      <p:sp>
        <p:nvSpPr>
          <p:cNvPr id="8" name="TextBox 7"/>
          <p:cNvSpPr txBox="1"/>
          <p:nvPr/>
        </p:nvSpPr>
        <p:spPr>
          <a:xfrm>
            <a:off x="594360" y="1298448"/>
            <a:ext cx="11002975" cy="4846320"/>
          </a:xfrm>
          <a:prstGeom prst="rect">
            <a:avLst/>
          </a:prstGeom>
          <a:noFill/>
        </p:spPr>
        <p:txBody>
          <a:bodyPr wrap="square">
            <a:spAutoFit/>
          </a:bodyPr>
          <a:lstStyle/>
          <a:p>
            <a:pPr>
              <a:spcAft>
                <a:spcPts val="900"/>
              </a:spcAft>
            </a:pPr>
            <a:r>
              <a:rPr sz="1800" b="1">
                <a:solidFill>
                  <a:srgbClr val="299BD6"/>
                </a:solidFill>
              </a:rPr>
              <a:t>●  </a:t>
            </a:r>
            <a:r>
              <a:rPr sz="1800" b="1" i="0">
                <a:solidFill>
                  <a:srgbClr val="222222"/>
                </a:solidFill>
                <a:latin typeface="Calibri"/>
              </a:rPr>
              <a:t>Dataset: </a:t>
            </a:r>
            <a:r>
              <a:rPr sz="1800" b="0" i="0">
                <a:solidFill>
                  <a:srgbClr val="222222"/>
                </a:solidFill>
                <a:latin typeface="Calibri"/>
              </a:rPr>
              <a:t>RoCoLe — A Robusta Coffee Leaf Images Dataset (Parraga-Alava et al., 2019).</a:t>
            </a:r>
          </a:p>
          <a:p>
            <a:pPr>
              <a:spcAft>
                <a:spcPts val="900"/>
              </a:spcAft>
            </a:pPr>
            <a:r>
              <a:rPr sz="1800" b="1">
                <a:solidFill>
                  <a:srgbClr val="299BD6"/>
                </a:solidFill>
              </a:rPr>
              <a:t>●  </a:t>
            </a:r>
            <a:r>
              <a:rPr sz="1800" b="0" i="0">
                <a:solidFill>
                  <a:srgbClr val="222222"/>
                </a:solidFill>
                <a:latin typeface="Calibri"/>
              </a:rPr>
              <a:t>1,560 real-world Robusta coffee leaf images collected in Ecuador, under uncontrolled field conditions — natural lighting, cluttered backgrounds.</a:t>
            </a:r>
          </a:p>
          <a:p>
            <a:pPr>
              <a:spcAft>
                <a:spcPts val="900"/>
              </a:spcAft>
            </a:pPr>
            <a:r>
              <a:rPr sz="1800" b="1">
                <a:solidFill>
                  <a:srgbClr val="299BD6"/>
                </a:solidFill>
              </a:rPr>
              <a:t>●  </a:t>
            </a:r>
            <a:r>
              <a:rPr sz="1800" b="0" i="0">
                <a:solidFill>
                  <a:srgbClr val="222222"/>
                </a:solidFill>
                <a:latin typeface="Calibri"/>
              </a:rPr>
              <a:t>Labelled Healthy vs. Diseased (leaf rust / red spider mite damage). Publicly available on Mendeley Data and Kaggle.</a:t>
            </a:r>
          </a:p>
          <a:p>
            <a:pPr>
              <a:spcAft>
                <a:spcPts val="400"/>
              </a:spcAft>
            </a:pPr>
          </a:p>
          <a:p>
            <a:pPr>
              <a:spcAft>
                <a:spcPts val="900"/>
              </a:spcAft>
            </a:pPr>
            <a:r>
              <a:rPr sz="1800" b="1">
                <a:solidFill>
                  <a:srgbClr val="299BD6"/>
                </a:solidFill>
              </a:rPr>
              <a:t>●  </a:t>
            </a:r>
            <a:r>
              <a:rPr sz="1800" b="1" i="0">
                <a:solidFill>
                  <a:srgbClr val="222222"/>
                </a:solidFill>
                <a:latin typeface="Calibri"/>
              </a:rPr>
              <a:t>Why RoCoLe, not a Uganda dataset? </a:t>
            </a:r>
            <a:r>
              <a:rPr sz="1800" b="0" i="0">
                <a:solidFill>
                  <a:srgbClr val="222222"/>
                </a:solidFill>
                <a:latin typeface="Calibri"/>
              </a:rPr>
              <a:t>Uganda-specific field data was not yet available at time of writing (Task 1, §2.3) — RoCoLe is the closest available proxy Robusta dataset in agro-ecological and photographic conditions.</a:t>
            </a:r>
          </a:p>
          <a:p>
            <a:pPr>
              <a:spcAft>
                <a:spcPts val="900"/>
              </a:spcAft>
            </a:pPr>
            <a:r>
              <a:rPr sz="1800" b="1">
                <a:solidFill>
                  <a:srgbClr val="299BD6"/>
                </a:solidFill>
              </a:rPr>
              <a:t>●  </a:t>
            </a:r>
            <a:r>
              <a:rPr sz="1800" b="0" i="0">
                <a:solidFill>
                  <a:srgbClr val="222222"/>
                </a:solidFill>
                <a:latin typeface="Calibri"/>
              </a:rPr>
              <a:t>Objective: implement RF and SVM end to end, and explain every function, parameter and computational step — as Task 2 requires.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256032" y="256032"/>
            <a:ext cx="11679631" cy="6345936"/>
          </a:xfrm>
          <a:prstGeom prst="rect">
            <a:avLst/>
          </a:prstGeom>
          <a:noFill/>
          <a:ln w="22225">
            <a:solidFill>
              <a:srgbClr val="C059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6032" y="6217920"/>
            <a:ext cx="11679631" cy="384048"/>
          </a:xfrm>
          <a:prstGeom prst="rect">
            <a:avLst/>
          </a:prstGeom>
          <a:solidFill>
            <a:srgbClr val="C05911"/>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100" b="1">
                <a:solidFill>
                  <a:srgbClr val="FFFFFF"/>
                </a:solidFill>
              </a:rPr>
              <a:t>Advanced Machine Learning — Course Work Two</a:t>
            </a:r>
          </a:p>
        </p:txBody>
      </p:sp>
      <p:sp>
        <p:nvSpPr>
          <p:cNvPr id="4" name="TextBox 3"/>
          <p:cNvSpPr txBox="1"/>
          <p:nvPr/>
        </p:nvSpPr>
        <p:spPr>
          <a:xfrm>
            <a:off x="9923983" y="6217920"/>
            <a:ext cx="1828800" cy="384048"/>
          </a:xfrm>
          <a:prstGeom prst="rect">
            <a:avLst/>
          </a:prstGeom>
          <a:noFill/>
        </p:spPr>
        <p:txBody>
          <a:bodyPr wrap="none" anchor="ctr">
            <a:spAutoFit/>
          </a:bodyPr>
          <a:lstStyle/>
          <a:p>
            <a:pPr algn="r"/>
            <a:r>
              <a:rPr sz="1100" b="1">
                <a:solidFill>
                  <a:srgbClr val="FFFFFF"/>
                </a:solidFill>
              </a:rPr>
              <a:t>12/08/2026</a:t>
            </a:r>
          </a:p>
        </p:txBody>
      </p:sp>
      <p:sp>
        <p:nvSpPr>
          <p:cNvPr id="5" name="TextBox 4"/>
          <p:cNvSpPr txBox="1"/>
          <p:nvPr/>
        </p:nvSpPr>
        <p:spPr>
          <a:xfrm>
            <a:off x="502920" y="292608"/>
            <a:ext cx="11185855" cy="777240"/>
          </a:xfrm>
          <a:prstGeom prst="rect">
            <a:avLst/>
          </a:prstGeom>
          <a:noFill/>
        </p:spPr>
        <p:txBody>
          <a:bodyPr wrap="square">
            <a:spAutoFit/>
          </a:bodyPr>
          <a:lstStyle/>
          <a:p>
            <a:pPr algn="ctr"/>
            <a:r>
              <a:rPr sz="2700" b="1">
                <a:solidFill>
                  <a:srgbClr val="C05911"/>
                </a:solidFill>
                <a:latin typeface="Calibri"/>
              </a:rPr>
              <a:t>Task 2: Feature Engineering Pipeline</a:t>
            </a:r>
          </a:p>
        </p:txBody>
      </p:sp>
      <p:cxnSp>
        <p:nvCxnSpPr>
          <p:cNvPr id="6" name="Connector 5"/>
          <p:cNvCxnSpPr/>
          <p:nvPr/>
        </p:nvCxnSpPr>
        <p:spPr>
          <a:xfrm>
            <a:off x="914400" y="1097280"/>
            <a:ext cx="10362895" cy="0"/>
          </a:xfrm>
          <a:prstGeom prst="line">
            <a:avLst/>
          </a:prstGeom>
          <a:ln w="12700">
            <a:solidFill>
              <a:srgbClr val="C05911"/>
            </a:solidFill>
            <a:prstDash val="dash"/>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5912967" y="914400"/>
            <a:ext cx="365760" cy="365760"/>
          </a:xfrm>
          <a:prstGeom prst="ellipse">
            <a:avLst/>
          </a:prstGeom>
          <a:solidFill>
            <a:srgbClr val="FFFFFF"/>
          </a:solidFill>
          <a:ln w="15875">
            <a:solidFill>
              <a:srgbClr val="C0591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C05911"/>
                </a:solidFill>
              </a:rPr>
              <a:t>11</a:t>
            </a:r>
          </a:p>
        </p:txBody>
      </p:sp>
      <p:sp>
        <p:nvSpPr>
          <p:cNvPr id="8" name="TextBox 7"/>
          <p:cNvSpPr txBox="1"/>
          <p:nvPr/>
        </p:nvSpPr>
        <p:spPr>
          <a:xfrm>
            <a:off x="594360" y="1298448"/>
            <a:ext cx="11002975" cy="4846320"/>
          </a:xfrm>
          <a:prstGeom prst="rect">
            <a:avLst/>
          </a:prstGeom>
          <a:noFill/>
        </p:spPr>
        <p:txBody>
          <a:bodyPr wrap="square">
            <a:spAutoFit/>
          </a:bodyPr>
          <a:lstStyle/>
          <a:p>
            <a:pPr>
              <a:spcAft>
                <a:spcPts val="900"/>
              </a:spcAft>
            </a:pPr>
            <a:r>
              <a:rPr sz="1600" b="1">
                <a:solidFill>
                  <a:srgbClr val="299BD6"/>
                </a:solidFill>
              </a:rPr>
              <a:t>●  </a:t>
            </a:r>
            <a:r>
              <a:rPr sz="1600" b="0" i="0">
                <a:solidFill>
                  <a:srgbClr val="222222"/>
                </a:solidFill>
                <a:latin typeface="Calibri"/>
              </a:rPr>
              <a:t>Unlike a CNN, RF and SVM cannot learn features from raw pixels </a:t>
            </a:r>
            <a:r>
              <a:rPr sz="1600" b="1" i="1">
                <a:solidFill>
                  <a:srgbClr val="C05911"/>
                </a:solidFill>
                <a:latin typeface="Calibri"/>
              </a:rPr>
              <a:t>— they need hand-crafted numerical features.</a:t>
            </a:r>
          </a:p>
          <a:p>
            <a:pPr>
              <a:spcAft>
                <a:spcPts val="900"/>
              </a:spcAft>
            </a:pPr>
            <a:r>
              <a:rPr sz="1600" b="1">
                <a:solidFill>
                  <a:srgbClr val="299BD6"/>
                </a:solidFill>
              </a:rPr>
              <a:t>●  </a:t>
            </a:r>
            <a:r>
              <a:rPr sz="1600" b="0" i="0">
                <a:solidFill>
                  <a:srgbClr val="222222"/>
                </a:solidFill>
                <a:latin typeface="Calibri"/>
              </a:rPr>
              <a:t>Colour histogram (HSV, 3×16 bins = 48 features)</a:t>
            </a:r>
          </a:p>
          <a:p>
            <a:pPr>
              <a:spcAft>
                <a:spcPts val="500"/>
              </a:spcAft>
            </a:pPr>
            <a:r>
              <a:t>      –  </a:t>
            </a:r>
            <a:r>
              <a:rPr sz="1400" b="0" i="0">
                <a:solidFill>
                  <a:srgbClr val="222222"/>
                </a:solidFill>
                <a:latin typeface="Calibri"/>
              </a:rPr>
              <a:t>Captures the hue/saturation shift from healthy green toward rust orange-brown or cercospora grey.</a:t>
            </a:r>
          </a:p>
          <a:p>
            <a:pPr>
              <a:spcAft>
                <a:spcPts val="900"/>
              </a:spcAft>
            </a:pPr>
            <a:r>
              <a:rPr sz="1600" b="1">
                <a:solidFill>
                  <a:srgbClr val="299BD6"/>
                </a:solidFill>
              </a:rPr>
              <a:t>●  </a:t>
            </a:r>
            <a:r>
              <a:rPr sz="1600" b="0" i="0">
                <a:solidFill>
                  <a:srgbClr val="222222"/>
                </a:solidFill>
                <a:latin typeface="Calibri"/>
              </a:rPr>
              <a:t>GLCM texture (4 features: contrast, homogeneity, energy, correlation)</a:t>
            </a:r>
          </a:p>
          <a:p>
            <a:pPr>
              <a:spcAft>
                <a:spcPts val="500"/>
              </a:spcAft>
            </a:pPr>
            <a:r>
              <a:t>      –  </a:t>
            </a:r>
            <a:r>
              <a:rPr sz="1400" b="0" i="0">
                <a:solidFill>
                  <a:srgbClr val="222222"/>
                </a:solidFill>
                <a:latin typeface="Calibri"/>
              </a:rPr>
              <a:t>Quantifies surface-texture disruption caused by lesions and necrosis.</a:t>
            </a:r>
          </a:p>
          <a:p>
            <a:pPr>
              <a:spcAft>
                <a:spcPts val="900"/>
              </a:spcAft>
            </a:pPr>
            <a:r>
              <a:rPr sz="1600" b="1">
                <a:solidFill>
                  <a:srgbClr val="299BD6"/>
                </a:solidFill>
              </a:rPr>
              <a:t>●  </a:t>
            </a:r>
            <a:r>
              <a:rPr sz="1600" b="0" i="0">
                <a:solidFill>
                  <a:srgbClr val="222222"/>
                </a:solidFill>
                <a:latin typeface="Calibri"/>
              </a:rPr>
              <a:t>Hu moments — shape (7 features, log-scaled)</a:t>
            </a:r>
          </a:p>
          <a:p>
            <a:pPr>
              <a:spcAft>
                <a:spcPts val="500"/>
              </a:spcAft>
            </a:pPr>
            <a:r>
              <a:t>      –  </a:t>
            </a:r>
            <a:r>
              <a:rPr sz="1400" b="0" i="0">
                <a:solidFill>
                  <a:srgbClr val="222222"/>
                </a:solidFill>
                <a:latin typeface="Calibri"/>
              </a:rPr>
              <a:t>Rotation/scale/translation-invariant descriptors of lesion-driven changes in leaf silhouette.</a:t>
            </a:r>
          </a:p>
          <a:p>
            <a:pPr>
              <a:spcAft>
                <a:spcPts val="400"/>
              </a:spcAft>
            </a:pPr>
          </a:p>
          <a:p>
            <a:pPr>
              <a:spcAft>
                <a:spcPts val="900"/>
              </a:spcAft>
            </a:pPr>
            <a:r>
              <a:rPr sz="1600" b="1">
                <a:solidFill>
                  <a:srgbClr val="299BD6"/>
                </a:solidFill>
              </a:rPr>
              <a:t>●  </a:t>
            </a:r>
            <a:r>
              <a:rPr sz="1600" b="1" i="0">
                <a:solidFill>
                  <a:srgbClr val="222222"/>
                </a:solidFill>
                <a:latin typeface="Calibri"/>
              </a:rPr>
              <a:t>Total feature vector: </a:t>
            </a:r>
            <a:r>
              <a:rPr sz="1600" b="1" i="1">
                <a:solidFill>
                  <a:srgbClr val="C05911"/>
                </a:solidFill>
                <a:latin typeface="Calibri"/>
              </a:rPr>
              <a:t>48 + 4 + 7 = 59 features per image.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256032" y="256032"/>
            <a:ext cx="11679631" cy="6345936"/>
          </a:xfrm>
          <a:prstGeom prst="rect">
            <a:avLst/>
          </a:prstGeom>
          <a:noFill/>
          <a:ln w="22225">
            <a:solidFill>
              <a:srgbClr val="C059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6032" y="6217920"/>
            <a:ext cx="11679631" cy="384048"/>
          </a:xfrm>
          <a:prstGeom prst="rect">
            <a:avLst/>
          </a:prstGeom>
          <a:solidFill>
            <a:srgbClr val="C05911"/>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100" b="1">
                <a:solidFill>
                  <a:srgbClr val="FFFFFF"/>
                </a:solidFill>
              </a:rPr>
              <a:t>Advanced Machine Learning — Course Work Two</a:t>
            </a:r>
          </a:p>
        </p:txBody>
      </p:sp>
      <p:sp>
        <p:nvSpPr>
          <p:cNvPr id="4" name="TextBox 3"/>
          <p:cNvSpPr txBox="1"/>
          <p:nvPr/>
        </p:nvSpPr>
        <p:spPr>
          <a:xfrm>
            <a:off x="9923983" y="6217920"/>
            <a:ext cx="1828800" cy="384048"/>
          </a:xfrm>
          <a:prstGeom prst="rect">
            <a:avLst/>
          </a:prstGeom>
          <a:noFill/>
        </p:spPr>
        <p:txBody>
          <a:bodyPr wrap="none" anchor="ctr">
            <a:spAutoFit/>
          </a:bodyPr>
          <a:lstStyle/>
          <a:p>
            <a:pPr algn="r"/>
            <a:r>
              <a:rPr sz="1100" b="1">
                <a:solidFill>
                  <a:srgbClr val="FFFFFF"/>
                </a:solidFill>
              </a:rPr>
              <a:t>12/08/2026</a:t>
            </a:r>
          </a:p>
        </p:txBody>
      </p:sp>
      <p:sp>
        <p:nvSpPr>
          <p:cNvPr id="5" name="TextBox 4"/>
          <p:cNvSpPr txBox="1"/>
          <p:nvPr/>
        </p:nvSpPr>
        <p:spPr>
          <a:xfrm>
            <a:off x="502920" y="292608"/>
            <a:ext cx="11185855" cy="777240"/>
          </a:xfrm>
          <a:prstGeom prst="rect">
            <a:avLst/>
          </a:prstGeom>
          <a:noFill/>
        </p:spPr>
        <p:txBody>
          <a:bodyPr wrap="square">
            <a:spAutoFit/>
          </a:bodyPr>
          <a:lstStyle/>
          <a:p>
            <a:pPr algn="ctr"/>
            <a:r>
              <a:rPr sz="2700" b="1">
                <a:solidFill>
                  <a:srgbClr val="C05911"/>
                </a:solidFill>
                <a:latin typeface="Calibri"/>
              </a:rPr>
              <a:t>Task 2: Random Forest — Implementation</a:t>
            </a:r>
          </a:p>
        </p:txBody>
      </p:sp>
      <p:cxnSp>
        <p:nvCxnSpPr>
          <p:cNvPr id="6" name="Connector 5"/>
          <p:cNvCxnSpPr/>
          <p:nvPr/>
        </p:nvCxnSpPr>
        <p:spPr>
          <a:xfrm>
            <a:off x="914400" y="1097280"/>
            <a:ext cx="10362895" cy="0"/>
          </a:xfrm>
          <a:prstGeom prst="line">
            <a:avLst/>
          </a:prstGeom>
          <a:ln w="12700">
            <a:solidFill>
              <a:srgbClr val="C05911"/>
            </a:solidFill>
            <a:prstDash val="dash"/>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5912967" y="914400"/>
            <a:ext cx="365760" cy="365760"/>
          </a:xfrm>
          <a:prstGeom prst="ellipse">
            <a:avLst/>
          </a:prstGeom>
          <a:solidFill>
            <a:srgbClr val="FFFFFF"/>
          </a:solidFill>
          <a:ln w="15875">
            <a:solidFill>
              <a:srgbClr val="C0591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C05911"/>
                </a:solidFill>
              </a:rPr>
              <a:t>12</a:t>
            </a:r>
          </a:p>
        </p:txBody>
      </p:sp>
      <p:sp>
        <p:nvSpPr>
          <p:cNvPr id="8" name="TextBox 7"/>
          <p:cNvSpPr txBox="1"/>
          <p:nvPr/>
        </p:nvSpPr>
        <p:spPr>
          <a:xfrm>
            <a:off x="594360" y="1298448"/>
            <a:ext cx="11002975" cy="4846320"/>
          </a:xfrm>
          <a:prstGeom prst="rect">
            <a:avLst/>
          </a:prstGeom>
          <a:noFill/>
        </p:spPr>
        <p:txBody>
          <a:bodyPr wrap="square">
            <a:spAutoFit/>
          </a:bodyPr>
          <a:lstStyle/>
          <a:p>
            <a:pPr>
              <a:spcAft>
                <a:spcPts val="900"/>
              </a:spcAft>
            </a:pPr>
            <a:r>
              <a:rPr sz="1700" b="1">
                <a:solidFill>
                  <a:srgbClr val="299BD6"/>
                </a:solidFill>
              </a:rPr>
              <a:t>●  </a:t>
            </a:r>
            <a:r>
              <a:rPr sz="1700" b="1" i="0">
                <a:solidFill>
                  <a:srgbClr val="222222"/>
                </a:solidFill>
                <a:latin typeface="Calibri"/>
              </a:rPr>
              <a:t>n_estimators = 300: </a:t>
            </a:r>
            <a:r>
              <a:rPr sz="1700" b="0" i="0">
                <a:solidFill>
                  <a:srgbClr val="222222"/>
                </a:solidFill>
                <a:latin typeface="Calibri"/>
              </a:rPr>
              <a:t>number of trees; ensemble vote stabilises quickly beyond a few hundred.</a:t>
            </a:r>
          </a:p>
          <a:p>
            <a:pPr>
              <a:spcAft>
                <a:spcPts val="900"/>
              </a:spcAft>
            </a:pPr>
            <a:r>
              <a:rPr sz="1700" b="1">
                <a:solidFill>
                  <a:srgbClr val="299BD6"/>
                </a:solidFill>
              </a:rPr>
              <a:t>●  </a:t>
            </a:r>
            <a:r>
              <a:rPr sz="1700" b="1" i="0">
                <a:solidFill>
                  <a:srgbClr val="222222"/>
                </a:solidFill>
                <a:latin typeface="Calibri"/>
              </a:rPr>
              <a:t>criterion = "gini": </a:t>
            </a:r>
            <a:r>
              <a:rPr sz="1700" b="0" i="0">
                <a:solidFill>
                  <a:srgbClr val="222222"/>
                </a:solidFill>
                <a:latin typeface="Calibri"/>
              </a:rPr>
              <a:t>split-quality measure — cheaper than entropy, near-identical splits.</a:t>
            </a:r>
          </a:p>
          <a:p>
            <a:pPr>
              <a:spcAft>
                <a:spcPts val="900"/>
              </a:spcAft>
            </a:pPr>
            <a:r>
              <a:rPr sz="1700" b="1">
                <a:solidFill>
                  <a:srgbClr val="299BD6"/>
                </a:solidFill>
              </a:rPr>
              <a:t>●  </a:t>
            </a:r>
            <a:r>
              <a:rPr sz="1700" b="1" i="0">
                <a:solidFill>
                  <a:srgbClr val="222222"/>
                </a:solidFill>
                <a:latin typeface="Calibri"/>
              </a:rPr>
              <a:t>max_features = "sqrt": </a:t>
            </a:r>
            <a:r>
              <a:rPr sz="1700" b="0" i="0">
                <a:solidFill>
                  <a:srgbClr val="222222"/>
                </a:solidFill>
                <a:latin typeface="Calibri"/>
              </a:rPr>
              <a:t>√59 ≈ 8 features considered per split — the randomness that decorrelates trees.</a:t>
            </a:r>
          </a:p>
          <a:p>
            <a:pPr>
              <a:spcAft>
                <a:spcPts val="900"/>
              </a:spcAft>
            </a:pPr>
            <a:r>
              <a:rPr sz="1700" b="1">
                <a:solidFill>
                  <a:srgbClr val="299BD6"/>
                </a:solidFill>
              </a:rPr>
              <a:t>●  </a:t>
            </a:r>
            <a:r>
              <a:rPr sz="1700" b="1" i="0">
                <a:solidFill>
                  <a:srgbClr val="222222"/>
                </a:solidFill>
                <a:latin typeface="Calibri"/>
              </a:rPr>
              <a:t>bootstrap = True: </a:t>
            </a:r>
            <a:r>
              <a:rPr sz="1700" b="0" i="0">
                <a:solidFill>
                  <a:srgbClr val="222222"/>
                </a:solidFill>
                <a:latin typeface="Calibri"/>
              </a:rPr>
              <a:t>enables bagging and free out-of-bag error estimation.</a:t>
            </a:r>
          </a:p>
          <a:p>
            <a:pPr>
              <a:spcAft>
                <a:spcPts val="900"/>
              </a:spcAft>
            </a:pPr>
            <a:r>
              <a:rPr sz="1700" b="1">
                <a:solidFill>
                  <a:srgbClr val="299BD6"/>
                </a:solidFill>
              </a:rPr>
              <a:t>●  </a:t>
            </a:r>
            <a:r>
              <a:rPr sz="1700" b="1" i="0">
                <a:solidFill>
                  <a:srgbClr val="222222"/>
                </a:solidFill>
                <a:latin typeface="Calibri"/>
              </a:rPr>
              <a:t>class_weight = "balanced": </a:t>
            </a:r>
            <a:r>
              <a:rPr sz="1700" b="0" i="0">
                <a:solidFill>
                  <a:srgbClr val="222222"/>
                </a:solidFill>
                <a:latin typeface="Calibri"/>
              </a:rPr>
              <a:t>reweights the Gini criterion since RoCoLe is not perfectly 50/50.</a:t>
            </a:r>
          </a:p>
          <a:p>
            <a:pPr>
              <a:spcAft>
                <a:spcPts val="400"/>
              </a:spcAft>
            </a:pPr>
          </a:p>
          <a:p>
            <a:pPr>
              <a:spcAft>
                <a:spcPts val="900"/>
              </a:spcAft>
            </a:pPr>
            <a:r>
              <a:rPr sz="1700" b="1">
                <a:solidFill>
                  <a:srgbClr val="299BD6"/>
                </a:solidFill>
              </a:rPr>
              <a:t>●  </a:t>
            </a:r>
            <a:r>
              <a:rPr sz="1700" b="1" i="1">
                <a:solidFill>
                  <a:srgbClr val="C05911"/>
                </a:solidFill>
                <a:latin typeface="Calibri"/>
              </a:rPr>
              <a:t>Feature importance output </a:t>
            </a:r>
            <a:r>
              <a:rPr sz="1700" b="0" i="0">
                <a:solidFill>
                  <a:srgbClr val="222222"/>
                </a:solidFill>
                <a:latin typeface="Calibri"/>
              </a:rPr>
              <a:t>gives farmers a transparent, ranked explanation of every prediction.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256032" y="256032"/>
            <a:ext cx="11679631" cy="6345936"/>
          </a:xfrm>
          <a:prstGeom prst="rect">
            <a:avLst/>
          </a:prstGeom>
          <a:noFill/>
          <a:ln w="22225">
            <a:solidFill>
              <a:srgbClr val="C059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6032" y="6217920"/>
            <a:ext cx="11679631" cy="384048"/>
          </a:xfrm>
          <a:prstGeom prst="rect">
            <a:avLst/>
          </a:prstGeom>
          <a:solidFill>
            <a:srgbClr val="C05911"/>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100" b="1">
                <a:solidFill>
                  <a:srgbClr val="FFFFFF"/>
                </a:solidFill>
              </a:rPr>
              <a:t>Advanced Machine Learning — Course Work Two</a:t>
            </a:r>
          </a:p>
        </p:txBody>
      </p:sp>
      <p:sp>
        <p:nvSpPr>
          <p:cNvPr id="4" name="TextBox 3"/>
          <p:cNvSpPr txBox="1"/>
          <p:nvPr/>
        </p:nvSpPr>
        <p:spPr>
          <a:xfrm>
            <a:off x="9923983" y="6217920"/>
            <a:ext cx="1828800" cy="384048"/>
          </a:xfrm>
          <a:prstGeom prst="rect">
            <a:avLst/>
          </a:prstGeom>
          <a:noFill/>
        </p:spPr>
        <p:txBody>
          <a:bodyPr wrap="none" anchor="ctr">
            <a:spAutoFit/>
          </a:bodyPr>
          <a:lstStyle/>
          <a:p>
            <a:pPr algn="r"/>
            <a:r>
              <a:rPr sz="1100" b="1">
                <a:solidFill>
                  <a:srgbClr val="FFFFFF"/>
                </a:solidFill>
              </a:rPr>
              <a:t>12/08/2026</a:t>
            </a:r>
          </a:p>
        </p:txBody>
      </p:sp>
      <p:sp>
        <p:nvSpPr>
          <p:cNvPr id="5" name="TextBox 4"/>
          <p:cNvSpPr txBox="1"/>
          <p:nvPr/>
        </p:nvSpPr>
        <p:spPr>
          <a:xfrm>
            <a:off x="502920" y="292608"/>
            <a:ext cx="11185855" cy="777240"/>
          </a:xfrm>
          <a:prstGeom prst="rect">
            <a:avLst/>
          </a:prstGeom>
          <a:noFill/>
        </p:spPr>
        <p:txBody>
          <a:bodyPr wrap="square">
            <a:spAutoFit/>
          </a:bodyPr>
          <a:lstStyle/>
          <a:p>
            <a:pPr algn="ctr"/>
            <a:r>
              <a:rPr sz="2700" b="1">
                <a:solidFill>
                  <a:srgbClr val="C05911"/>
                </a:solidFill>
                <a:latin typeface="Calibri"/>
              </a:rPr>
              <a:t>Task 2: SVM — Implementation</a:t>
            </a:r>
          </a:p>
        </p:txBody>
      </p:sp>
      <p:cxnSp>
        <p:nvCxnSpPr>
          <p:cNvPr id="6" name="Connector 5"/>
          <p:cNvCxnSpPr/>
          <p:nvPr/>
        </p:nvCxnSpPr>
        <p:spPr>
          <a:xfrm>
            <a:off x="914400" y="1097280"/>
            <a:ext cx="10362895" cy="0"/>
          </a:xfrm>
          <a:prstGeom prst="line">
            <a:avLst/>
          </a:prstGeom>
          <a:ln w="12700">
            <a:solidFill>
              <a:srgbClr val="C05911"/>
            </a:solidFill>
            <a:prstDash val="dash"/>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5912967" y="914400"/>
            <a:ext cx="365760" cy="365760"/>
          </a:xfrm>
          <a:prstGeom prst="ellipse">
            <a:avLst/>
          </a:prstGeom>
          <a:solidFill>
            <a:srgbClr val="FFFFFF"/>
          </a:solidFill>
          <a:ln w="15875">
            <a:solidFill>
              <a:srgbClr val="C0591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C05911"/>
                </a:solidFill>
              </a:rPr>
              <a:t>13</a:t>
            </a:r>
          </a:p>
        </p:txBody>
      </p:sp>
      <p:sp>
        <p:nvSpPr>
          <p:cNvPr id="8" name="TextBox 7"/>
          <p:cNvSpPr txBox="1"/>
          <p:nvPr/>
        </p:nvSpPr>
        <p:spPr>
          <a:xfrm>
            <a:off x="594360" y="1298448"/>
            <a:ext cx="11002975" cy="4846320"/>
          </a:xfrm>
          <a:prstGeom prst="rect">
            <a:avLst/>
          </a:prstGeom>
          <a:noFill/>
        </p:spPr>
        <p:txBody>
          <a:bodyPr wrap="square">
            <a:spAutoFit/>
          </a:bodyPr>
          <a:lstStyle/>
          <a:p>
            <a:pPr>
              <a:spcAft>
                <a:spcPts val="900"/>
              </a:spcAft>
            </a:pPr>
            <a:r>
              <a:rPr sz="1700" b="1">
                <a:solidFill>
                  <a:srgbClr val="299BD6"/>
                </a:solidFill>
              </a:rPr>
              <a:t>●  </a:t>
            </a:r>
            <a:r>
              <a:rPr sz="1700" b="1" i="0">
                <a:solidFill>
                  <a:srgbClr val="222222"/>
                </a:solidFill>
                <a:latin typeface="Calibri"/>
              </a:rPr>
              <a:t>kernel = "rbf": </a:t>
            </a:r>
            <a:r>
              <a:rPr sz="1700" b="0" i="0">
                <a:solidFill>
                  <a:srgbClr val="222222"/>
                </a:solidFill>
                <a:latin typeface="Calibri"/>
              </a:rPr>
              <a:t>K(x,x′) = exp(−γ‖x−x′‖²) — captures non-linear colour/texture disease boundaries.</a:t>
            </a:r>
          </a:p>
          <a:p>
            <a:pPr>
              <a:spcAft>
                <a:spcPts val="900"/>
              </a:spcAft>
            </a:pPr>
            <a:r>
              <a:rPr sz="1700" b="1">
                <a:solidFill>
                  <a:srgbClr val="299BD6"/>
                </a:solidFill>
              </a:rPr>
              <a:t>●  </a:t>
            </a:r>
            <a:r>
              <a:rPr sz="1700" b="1" i="0">
                <a:solidFill>
                  <a:srgbClr val="222222"/>
                </a:solidFill>
                <a:latin typeface="Calibri"/>
              </a:rPr>
              <a:t>C, grid-searched over {0.1, 1, 10, 100}: </a:t>
            </a:r>
            <a:r>
              <a:rPr sz="1700" b="0" i="0">
                <a:solidFill>
                  <a:srgbClr val="222222"/>
                </a:solidFill>
                <a:latin typeface="Calibri"/>
              </a:rPr>
              <a:t>trade-off between margin width and misclassification tolerance.</a:t>
            </a:r>
          </a:p>
          <a:p>
            <a:pPr>
              <a:spcAft>
                <a:spcPts val="900"/>
              </a:spcAft>
            </a:pPr>
            <a:r>
              <a:rPr sz="1700" b="1">
                <a:solidFill>
                  <a:srgbClr val="299BD6"/>
                </a:solidFill>
              </a:rPr>
              <a:t>●  </a:t>
            </a:r>
            <a:r>
              <a:rPr sz="1700" b="1" i="0">
                <a:solidFill>
                  <a:srgbClr val="222222"/>
                </a:solidFill>
                <a:latin typeface="Calibri"/>
              </a:rPr>
              <a:t>gamma, grid-searched over {scale, 0.01, 0.001}: </a:t>
            </a:r>
            <a:r>
              <a:rPr sz="1700" b="0" i="0">
                <a:solidFill>
                  <a:srgbClr val="222222"/>
                </a:solidFill>
                <a:latin typeface="Calibri"/>
              </a:rPr>
              <a:t>controls how local vs. smooth the decision boundary is.</a:t>
            </a:r>
          </a:p>
          <a:p>
            <a:pPr>
              <a:spcAft>
                <a:spcPts val="900"/>
              </a:spcAft>
            </a:pPr>
            <a:r>
              <a:rPr sz="1700" b="1">
                <a:solidFill>
                  <a:srgbClr val="299BD6"/>
                </a:solidFill>
              </a:rPr>
              <a:t>●  </a:t>
            </a:r>
            <a:r>
              <a:rPr sz="1700" b="1" i="0">
                <a:solidFill>
                  <a:srgbClr val="222222"/>
                </a:solidFill>
                <a:latin typeface="Calibri"/>
              </a:rPr>
              <a:t>probability = True: </a:t>
            </a:r>
            <a:r>
              <a:rPr sz="1700" b="0" i="0">
                <a:solidFill>
                  <a:srgbClr val="222222"/>
                </a:solidFill>
                <a:latin typeface="Calibri"/>
              </a:rPr>
              <a:t>Platt-scaled confidence scores for farmer-facing output.</a:t>
            </a:r>
          </a:p>
          <a:p>
            <a:pPr>
              <a:spcAft>
                <a:spcPts val="400"/>
              </a:spcAft>
            </a:pPr>
          </a:p>
          <a:p>
            <a:pPr>
              <a:spcAft>
                <a:spcPts val="900"/>
              </a:spcAft>
            </a:pPr>
            <a:r>
              <a:rPr sz="1700" b="1">
                <a:solidFill>
                  <a:srgbClr val="299BD6"/>
                </a:solidFill>
              </a:rPr>
              <a:t>●  </a:t>
            </a:r>
            <a:r>
              <a:rPr sz="1700" b="1" i="1">
                <a:solidFill>
                  <a:srgbClr val="C05911"/>
                </a:solidFill>
                <a:latin typeface="Calibri"/>
              </a:rPr>
              <a:t>Critical detail: </a:t>
            </a:r>
            <a:r>
              <a:rPr sz="1700" b="0" i="0">
                <a:solidFill>
                  <a:srgbClr val="222222"/>
                </a:solidFill>
                <a:latin typeface="Calibri"/>
              </a:rPr>
              <a:t>SVM is trained on StandardScaler-normalised features (unlike RF) — the RBF kernel's distance computation is sensitive to feature magnitude.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256032" y="256032"/>
            <a:ext cx="11679631" cy="6345936"/>
          </a:xfrm>
          <a:prstGeom prst="rect">
            <a:avLst/>
          </a:prstGeom>
          <a:noFill/>
          <a:ln w="22225">
            <a:solidFill>
              <a:srgbClr val="C059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6032" y="6217920"/>
            <a:ext cx="11679631" cy="384048"/>
          </a:xfrm>
          <a:prstGeom prst="rect">
            <a:avLst/>
          </a:prstGeom>
          <a:solidFill>
            <a:srgbClr val="C05911"/>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100" b="1">
                <a:solidFill>
                  <a:srgbClr val="FFFFFF"/>
                </a:solidFill>
              </a:rPr>
              <a:t>Advanced Machine Learning — Course Work Two</a:t>
            </a:r>
          </a:p>
        </p:txBody>
      </p:sp>
      <p:sp>
        <p:nvSpPr>
          <p:cNvPr id="4" name="TextBox 3"/>
          <p:cNvSpPr txBox="1"/>
          <p:nvPr/>
        </p:nvSpPr>
        <p:spPr>
          <a:xfrm>
            <a:off x="9923983" y="6217920"/>
            <a:ext cx="1828800" cy="384048"/>
          </a:xfrm>
          <a:prstGeom prst="rect">
            <a:avLst/>
          </a:prstGeom>
          <a:noFill/>
        </p:spPr>
        <p:txBody>
          <a:bodyPr wrap="none" anchor="ctr">
            <a:spAutoFit/>
          </a:bodyPr>
          <a:lstStyle/>
          <a:p>
            <a:pPr algn="r"/>
            <a:r>
              <a:rPr sz="1100" b="1">
                <a:solidFill>
                  <a:srgbClr val="FFFFFF"/>
                </a:solidFill>
              </a:rPr>
              <a:t>12/08/2026</a:t>
            </a:r>
          </a:p>
        </p:txBody>
      </p:sp>
      <p:sp>
        <p:nvSpPr>
          <p:cNvPr id="5" name="TextBox 4"/>
          <p:cNvSpPr txBox="1"/>
          <p:nvPr/>
        </p:nvSpPr>
        <p:spPr>
          <a:xfrm>
            <a:off x="502920" y="292608"/>
            <a:ext cx="11185855" cy="777240"/>
          </a:xfrm>
          <a:prstGeom prst="rect">
            <a:avLst/>
          </a:prstGeom>
          <a:noFill/>
        </p:spPr>
        <p:txBody>
          <a:bodyPr wrap="square">
            <a:spAutoFit/>
          </a:bodyPr>
          <a:lstStyle/>
          <a:p>
            <a:pPr algn="ctr"/>
            <a:r>
              <a:rPr sz="2700" b="1">
                <a:solidFill>
                  <a:srgbClr val="C05911"/>
                </a:solidFill>
                <a:latin typeface="Calibri"/>
              </a:rPr>
              <a:t>Task 2: Evaluation Protocol and Complexity</a:t>
            </a:r>
          </a:p>
        </p:txBody>
      </p:sp>
      <p:cxnSp>
        <p:nvCxnSpPr>
          <p:cNvPr id="6" name="Connector 5"/>
          <p:cNvCxnSpPr/>
          <p:nvPr/>
        </p:nvCxnSpPr>
        <p:spPr>
          <a:xfrm>
            <a:off x="914400" y="1097280"/>
            <a:ext cx="10362895" cy="0"/>
          </a:xfrm>
          <a:prstGeom prst="line">
            <a:avLst/>
          </a:prstGeom>
          <a:ln w="12700">
            <a:solidFill>
              <a:srgbClr val="C05911"/>
            </a:solidFill>
            <a:prstDash val="dash"/>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5912967" y="914400"/>
            <a:ext cx="365760" cy="365760"/>
          </a:xfrm>
          <a:prstGeom prst="ellipse">
            <a:avLst/>
          </a:prstGeom>
          <a:solidFill>
            <a:srgbClr val="FFFFFF"/>
          </a:solidFill>
          <a:ln w="15875">
            <a:solidFill>
              <a:srgbClr val="C0591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C05911"/>
                </a:solidFill>
              </a:rPr>
              <a:t>14</a:t>
            </a:r>
          </a:p>
        </p:txBody>
      </p:sp>
      <p:sp>
        <p:nvSpPr>
          <p:cNvPr id="8" name="TextBox 7"/>
          <p:cNvSpPr txBox="1"/>
          <p:nvPr/>
        </p:nvSpPr>
        <p:spPr>
          <a:xfrm>
            <a:off x="594360" y="1298448"/>
            <a:ext cx="11002975" cy="4846320"/>
          </a:xfrm>
          <a:prstGeom prst="rect">
            <a:avLst/>
          </a:prstGeom>
          <a:noFill/>
        </p:spPr>
        <p:txBody>
          <a:bodyPr wrap="square">
            <a:spAutoFit/>
          </a:bodyPr>
          <a:lstStyle/>
          <a:p>
            <a:pPr>
              <a:spcAft>
                <a:spcPts val="900"/>
              </a:spcAft>
            </a:pPr>
            <a:r>
              <a:rPr sz="1800" b="1">
                <a:solidFill>
                  <a:srgbClr val="299BD6"/>
                </a:solidFill>
              </a:rPr>
              <a:t>●  </a:t>
            </a:r>
            <a:r>
              <a:rPr sz="1800" b="0" i="0">
                <a:solidFill>
                  <a:srgbClr val="222222"/>
                </a:solidFill>
                <a:latin typeface="Calibri"/>
              </a:rPr>
              <a:t>Stratified 80/20 train-test split, preserving the Healthy:Diseased ratio in both partitions.</a:t>
            </a:r>
          </a:p>
          <a:p>
            <a:pPr>
              <a:spcAft>
                <a:spcPts val="900"/>
              </a:spcAft>
            </a:pPr>
            <a:r>
              <a:rPr sz="1800" b="1">
                <a:solidFill>
                  <a:srgbClr val="299BD6"/>
                </a:solidFill>
              </a:rPr>
              <a:t>●  </a:t>
            </a:r>
            <a:r>
              <a:rPr sz="1800" b="0" i="0">
                <a:solidFill>
                  <a:srgbClr val="222222"/>
                </a:solidFill>
                <a:latin typeface="Calibri"/>
              </a:rPr>
              <a:t>StandardScaler fit only on the training set, then applied to the test set — no data leakage.</a:t>
            </a:r>
          </a:p>
          <a:p>
            <a:pPr>
              <a:spcAft>
                <a:spcPts val="900"/>
              </a:spcAft>
            </a:pPr>
            <a:r>
              <a:rPr sz="1800" b="1">
                <a:solidFill>
                  <a:srgbClr val="299BD6"/>
                </a:solidFill>
              </a:rPr>
              <a:t>●  </a:t>
            </a:r>
            <a:r>
              <a:rPr sz="1800" b="0" i="0">
                <a:solidFill>
                  <a:srgbClr val="222222"/>
                </a:solidFill>
                <a:latin typeface="Calibri"/>
              </a:rPr>
              <a:t>5-fold stratified cross-validation for a variance-aware accuracy estimate beyond a single split.</a:t>
            </a:r>
          </a:p>
          <a:p>
            <a:pPr>
              <a:spcAft>
                <a:spcPts val="900"/>
              </a:spcAft>
            </a:pPr>
            <a:r>
              <a:rPr sz="1800" b="1">
                <a:solidFill>
                  <a:srgbClr val="299BD6"/>
                </a:solidFill>
              </a:rPr>
              <a:t>●  </a:t>
            </a:r>
            <a:r>
              <a:rPr sz="1800" b="0" i="0">
                <a:solidFill>
                  <a:srgbClr val="222222"/>
                </a:solidFill>
                <a:latin typeface="Calibri"/>
              </a:rPr>
              <a:t>Metrics: accuracy, F1, ROC-AUC, confusion matrix — plus RF feature importance and SVM support-vector count.</a:t>
            </a:r>
          </a:p>
          <a:p>
            <a:pPr>
              <a:spcAft>
                <a:spcPts val="400"/>
              </a:spcAft>
            </a:pPr>
          </a:p>
          <a:p>
            <a:pPr>
              <a:spcAft>
                <a:spcPts val="900"/>
              </a:spcAft>
            </a:pPr>
            <a:r>
              <a:rPr sz="1800" b="1">
                <a:solidFill>
                  <a:srgbClr val="299BD6"/>
                </a:solidFill>
              </a:rPr>
              <a:t>●  </a:t>
            </a:r>
            <a:r>
              <a:rPr sz="1800" b="1" i="0">
                <a:solidFill>
                  <a:srgbClr val="222222"/>
                </a:solidFill>
                <a:latin typeface="Calibri"/>
              </a:rPr>
              <a:t>Complexity: </a:t>
            </a:r>
            <a:r>
              <a:rPr sz="1800" b="0" i="0">
                <a:solidFill>
                  <a:srgbClr val="222222"/>
                </a:solidFill>
                <a:latin typeface="Calibri"/>
              </a:rPr>
              <a:t>RF trains in O(B·n·log n·√d) — embarrassingly parallel; SVM training is O(n²)–O(n³) via libsvm's SMO solver.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256032" y="256032"/>
            <a:ext cx="11679631" cy="6345936"/>
          </a:xfrm>
          <a:prstGeom prst="rect">
            <a:avLst/>
          </a:prstGeom>
          <a:noFill/>
          <a:ln w="22225">
            <a:solidFill>
              <a:srgbClr val="C059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6032" y="6217920"/>
            <a:ext cx="11679631" cy="384048"/>
          </a:xfrm>
          <a:prstGeom prst="rect">
            <a:avLst/>
          </a:prstGeom>
          <a:solidFill>
            <a:srgbClr val="C05911"/>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100" b="1">
                <a:solidFill>
                  <a:srgbClr val="FFFFFF"/>
                </a:solidFill>
              </a:rPr>
              <a:t>Advanced Machine Learning — Course Work Two</a:t>
            </a:r>
          </a:p>
        </p:txBody>
      </p:sp>
      <p:sp>
        <p:nvSpPr>
          <p:cNvPr id="4" name="TextBox 3"/>
          <p:cNvSpPr txBox="1"/>
          <p:nvPr/>
        </p:nvSpPr>
        <p:spPr>
          <a:xfrm>
            <a:off x="9923983" y="6217920"/>
            <a:ext cx="1828800" cy="384048"/>
          </a:xfrm>
          <a:prstGeom prst="rect">
            <a:avLst/>
          </a:prstGeom>
          <a:noFill/>
        </p:spPr>
        <p:txBody>
          <a:bodyPr wrap="none" anchor="ctr">
            <a:spAutoFit/>
          </a:bodyPr>
          <a:lstStyle/>
          <a:p>
            <a:pPr algn="r"/>
            <a:r>
              <a:rPr sz="1100" b="1">
                <a:solidFill>
                  <a:srgbClr val="FFFFFF"/>
                </a:solidFill>
              </a:rPr>
              <a:t>12/08/2026</a:t>
            </a:r>
          </a:p>
        </p:txBody>
      </p:sp>
      <p:sp>
        <p:nvSpPr>
          <p:cNvPr id="5" name="TextBox 4"/>
          <p:cNvSpPr txBox="1"/>
          <p:nvPr/>
        </p:nvSpPr>
        <p:spPr>
          <a:xfrm>
            <a:off x="502920" y="292608"/>
            <a:ext cx="11185855" cy="777240"/>
          </a:xfrm>
          <a:prstGeom prst="rect">
            <a:avLst/>
          </a:prstGeom>
          <a:noFill/>
        </p:spPr>
        <p:txBody>
          <a:bodyPr wrap="square">
            <a:spAutoFit/>
          </a:bodyPr>
          <a:lstStyle/>
          <a:p>
            <a:pPr algn="ctr"/>
            <a:r>
              <a:rPr sz="2700" b="1">
                <a:solidFill>
                  <a:srgbClr val="C05911"/>
                </a:solidFill>
                <a:latin typeface="Calibri"/>
              </a:rPr>
              <a:t>Task 3: Selected Study for Replication</a:t>
            </a:r>
          </a:p>
        </p:txBody>
      </p:sp>
      <p:cxnSp>
        <p:nvCxnSpPr>
          <p:cNvPr id="6" name="Connector 5"/>
          <p:cNvCxnSpPr/>
          <p:nvPr/>
        </p:nvCxnSpPr>
        <p:spPr>
          <a:xfrm>
            <a:off x="914400" y="1097280"/>
            <a:ext cx="10362895" cy="0"/>
          </a:xfrm>
          <a:prstGeom prst="line">
            <a:avLst/>
          </a:prstGeom>
          <a:ln w="12700">
            <a:solidFill>
              <a:srgbClr val="C05911"/>
            </a:solidFill>
            <a:prstDash val="dash"/>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5912967" y="914400"/>
            <a:ext cx="365760" cy="365760"/>
          </a:xfrm>
          <a:prstGeom prst="ellipse">
            <a:avLst/>
          </a:prstGeom>
          <a:solidFill>
            <a:srgbClr val="FFFFFF"/>
          </a:solidFill>
          <a:ln w="15875">
            <a:solidFill>
              <a:srgbClr val="C0591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C05911"/>
                </a:solidFill>
              </a:rPr>
              <a:t>15</a:t>
            </a:r>
          </a:p>
        </p:txBody>
      </p:sp>
      <p:sp>
        <p:nvSpPr>
          <p:cNvPr id="8" name="TextBox 7"/>
          <p:cNvSpPr txBox="1"/>
          <p:nvPr/>
        </p:nvSpPr>
        <p:spPr>
          <a:xfrm>
            <a:off x="594360" y="1298448"/>
            <a:ext cx="11002975" cy="4846320"/>
          </a:xfrm>
          <a:prstGeom prst="rect">
            <a:avLst/>
          </a:prstGeom>
          <a:noFill/>
        </p:spPr>
        <p:txBody>
          <a:bodyPr wrap="square">
            <a:spAutoFit/>
          </a:bodyPr>
          <a:lstStyle/>
          <a:p>
            <a:pPr>
              <a:spcAft>
                <a:spcPts val="900"/>
              </a:spcAft>
            </a:pPr>
            <a:r>
              <a:rPr sz="1800" b="1">
                <a:solidFill>
                  <a:srgbClr val="299BD6"/>
                </a:solidFill>
              </a:rPr>
              <a:t>●  </a:t>
            </a:r>
            <a:r>
              <a:rPr sz="1800" b="1" i="0">
                <a:solidFill>
                  <a:srgbClr val="222222"/>
                </a:solidFill>
                <a:latin typeface="Calibri"/>
              </a:rPr>
              <a:t>Rahmatia, Rasyid &amp; Arifin (2026). </a:t>
            </a:r>
            <a:r>
              <a:rPr sz="1800" b="0" i="0">
                <a:solidFill>
                  <a:srgbClr val="222222"/>
                </a:solidFill>
                <a:latin typeface="Calibri"/>
              </a:rPr>
              <a:t>Hybrid Machine Learning Models Based on MobileNetV2 Feature Extraction for Robusta Coffee Leaf Disease Classification.</a:t>
            </a:r>
          </a:p>
          <a:p>
            <a:pPr>
              <a:spcAft>
                <a:spcPts val="900"/>
              </a:spcAft>
            </a:pPr>
            <a:r>
              <a:rPr sz="1800" b="1">
                <a:solidFill>
                  <a:srgbClr val="299BD6"/>
                </a:solidFill>
              </a:rPr>
              <a:t>●  </a:t>
            </a:r>
            <a:r>
              <a:rPr sz="1800" b="1" i="0">
                <a:solidFill>
                  <a:srgbClr val="222222"/>
                </a:solidFill>
                <a:latin typeface="Calibri"/>
              </a:rPr>
              <a:t>Why this paper: </a:t>
            </a:r>
            <a:r>
              <a:rPr sz="1800" b="0" i="0">
                <a:solidFill>
                  <a:srgbClr val="222222"/>
                </a:solidFill>
                <a:latin typeface="Calibri"/>
              </a:rPr>
              <a:t>closest methodological match — frozen CNN as feature extractor, then RF and linear SVM as the actual classifiers, on Robusta coffee (RoCoLe).</a:t>
            </a:r>
          </a:p>
          <a:p>
            <a:pPr>
              <a:spcAft>
                <a:spcPts val="900"/>
              </a:spcAft>
            </a:pPr>
            <a:r>
              <a:rPr sz="1800" b="1">
                <a:solidFill>
                  <a:srgbClr val="299BD6"/>
                </a:solidFill>
              </a:rPr>
              <a:t>●  </a:t>
            </a:r>
            <a:r>
              <a:rPr sz="1800" b="0" i="0">
                <a:solidFill>
                  <a:srgbClr val="222222"/>
                </a:solidFill>
                <a:latin typeface="Calibri"/>
              </a:rPr>
              <a:t>Fully specified hyperparameters and McNemar's significance test — directly supports Task 3's requirement to discuss alignment with original findings.</a:t>
            </a:r>
          </a:p>
          <a:p>
            <a:pPr>
              <a:spcAft>
                <a:spcPts val="400"/>
              </a:spcAft>
            </a:pPr>
          </a:p>
          <a:p>
            <a:pPr>
              <a:spcAft>
                <a:spcPts val="900"/>
              </a:spcAft>
            </a:pPr>
            <a:r>
              <a:rPr sz="1800" b="1">
                <a:solidFill>
                  <a:srgbClr val="299BD6"/>
                </a:solidFill>
              </a:rPr>
              <a:t>●  </a:t>
            </a:r>
            <a:r>
              <a:rPr sz="1800" b="1" i="0">
                <a:solidFill>
                  <a:srgbClr val="222222"/>
                </a:solidFill>
                <a:latin typeface="Calibri"/>
              </a:rPr>
              <a:t>Rejected alternative: </a:t>
            </a:r>
            <a:r>
              <a:rPr sz="1800" b="0" i="0">
                <a:solidFill>
                  <a:srgbClr val="222222"/>
                </a:solidFill>
                <a:latin typeface="Calibri"/>
              </a:rPr>
              <a:t>Thakur et al. (2024)'s SUNet — 98.45% accuracy, but needs a V100 GPU, 128GB RAM, 2TB storage, and is not RF/SVM-based at all.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256032" y="256032"/>
            <a:ext cx="11679631" cy="6345936"/>
          </a:xfrm>
          <a:prstGeom prst="rect">
            <a:avLst/>
          </a:prstGeom>
          <a:noFill/>
          <a:ln w="22225">
            <a:solidFill>
              <a:srgbClr val="C059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6032" y="6217920"/>
            <a:ext cx="11679631" cy="384048"/>
          </a:xfrm>
          <a:prstGeom prst="rect">
            <a:avLst/>
          </a:prstGeom>
          <a:solidFill>
            <a:srgbClr val="C05911"/>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100" b="1">
                <a:solidFill>
                  <a:srgbClr val="FFFFFF"/>
                </a:solidFill>
              </a:rPr>
              <a:t>Advanced Machine Learning — Course Work Two</a:t>
            </a:r>
          </a:p>
        </p:txBody>
      </p:sp>
      <p:sp>
        <p:nvSpPr>
          <p:cNvPr id="4" name="TextBox 3"/>
          <p:cNvSpPr txBox="1"/>
          <p:nvPr/>
        </p:nvSpPr>
        <p:spPr>
          <a:xfrm>
            <a:off x="9923983" y="6217920"/>
            <a:ext cx="1828800" cy="384048"/>
          </a:xfrm>
          <a:prstGeom prst="rect">
            <a:avLst/>
          </a:prstGeom>
          <a:noFill/>
        </p:spPr>
        <p:txBody>
          <a:bodyPr wrap="none" anchor="ctr">
            <a:spAutoFit/>
          </a:bodyPr>
          <a:lstStyle/>
          <a:p>
            <a:pPr algn="r"/>
            <a:r>
              <a:rPr sz="1100" b="1">
                <a:solidFill>
                  <a:srgbClr val="FFFFFF"/>
                </a:solidFill>
              </a:rPr>
              <a:t>12/08/2026</a:t>
            </a:r>
          </a:p>
        </p:txBody>
      </p:sp>
      <p:sp>
        <p:nvSpPr>
          <p:cNvPr id="5" name="TextBox 4"/>
          <p:cNvSpPr txBox="1"/>
          <p:nvPr/>
        </p:nvSpPr>
        <p:spPr>
          <a:xfrm>
            <a:off x="502920" y="292608"/>
            <a:ext cx="11185855" cy="777240"/>
          </a:xfrm>
          <a:prstGeom prst="rect">
            <a:avLst/>
          </a:prstGeom>
          <a:noFill/>
        </p:spPr>
        <p:txBody>
          <a:bodyPr wrap="square">
            <a:spAutoFit/>
          </a:bodyPr>
          <a:lstStyle/>
          <a:p>
            <a:pPr algn="ctr"/>
            <a:r>
              <a:rPr sz="2700" b="1">
                <a:solidFill>
                  <a:srgbClr val="C05911"/>
                </a:solidFill>
                <a:latin typeface="Calibri"/>
              </a:rPr>
              <a:t>Task 3: Original Methodology and Results</a:t>
            </a:r>
          </a:p>
        </p:txBody>
      </p:sp>
      <p:cxnSp>
        <p:nvCxnSpPr>
          <p:cNvPr id="6" name="Connector 5"/>
          <p:cNvCxnSpPr/>
          <p:nvPr/>
        </p:nvCxnSpPr>
        <p:spPr>
          <a:xfrm>
            <a:off x="914400" y="1097280"/>
            <a:ext cx="10362895" cy="0"/>
          </a:xfrm>
          <a:prstGeom prst="line">
            <a:avLst/>
          </a:prstGeom>
          <a:ln w="12700">
            <a:solidFill>
              <a:srgbClr val="C05911"/>
            </a:solidFill>
            <a:prstDash val="dash"/>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5912967" y="914400"/>
            <a:ext cx="365760" cy="365760"/>
          </a:xfrm>
          <a:prstGeom prst="ellipse">
            <a:avLst/>
          </a:prstGeom>
          <a:solidFill>
            <a:srgbClr val="FFFFFF"/>
          </a:solidFill>
          <a:ln w="15875">
            <a:solidFill>
              <a:srgbClr val="C0591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C05911"/>
                </a:solidFill>
              </a:rPr>
              <a:t>16</a:t>
            </a:r>
          </a:p>
        </p:txBody>
      </p:sp>
      <p:sp>
        <p:nvSpPr>
          <p:cNvPr id="8" name="TextBox 7"/>
          <p:cNvSpPr txBox="1"/>
          <p:nvPr/>
        </p:nvSpPr>
        <p:spPr>
          <a:xfrm>
            <a:off x="594360" y="1298448"/>
            <a:ext cx="11002975" cy="4846320"/>
          </a:xfrm>
          <a:prstGeom prst="rect">
            <a:avLst/>
          </a:prstGeom>
          <a:noFill/>
        </p:spPr>
        <p:txBody>
          <a:bodyPr wrap="square">
            <a:spAutoFit/>
          </a:bodyPr>
          <a:lstStyle/>
          <a:p>
            <a:pPr>
              <a:spcAft>
                <a:spcPts val="900"/>
              </a:spcAft>
            </a:pPr>
            <a:r>
              <a:rPr sz="1800" b="1">
                <a:solidFill>
                  <a:srgbClr val="299BD6"/>
                </a:solidFill>
              </a:rPr>
              <a:t>●  </a:t>
            </a:r>
            <a:r>
              <a:rPr sz="1800" b="0" i="0">
                <a:solidFill>
                  <a:srgbClr val="222222"/>
                </a:solidFill>
                <a:latin typeface="Calibri"/>
              </a:rPr>
              <a:t>RoCoLe reformulated as binary: Healthy (791) vs. Diseased (769, merging rust severities 1–4 and red spider mite damage).</a:t>
            </a:r>
          </a:p>
          <a:p>
            <a:pPr>
              <a:spcAft>
                <a:spcPts val="900"/>
              </a:spcAft>
            </a:pPr>
            <a:r>
              <a:rPr sz="1800" b="1">
                <a:solidFill>
                  <a:srgbClr val="299BD6"/>
                </a:solidFill>
              </a:rPr>
              <a:t>●  </a:t>
            </a:r>
            <a:r>
              <a:rPr sz="1800" b="0" i="0">
                <a:solidFill>
                  <a:srgbClr val="222222"/>
                </a:solidFill>
                <a:latin typeface="Calibri"/>
              </a:rPr>
              <a:t>Hash-based grouped 70/10/20 split — prevents near-duplicate crops of the same photo leaking across partitions.</a:t>
            </a:r>
          </a:p>
          <a:p>
            <a:pPr>
              <a:spcAft>
                <a:spcPts val="900"/>
              </a:spcAft>
            </a:pPr>
            <a:r>
              <a:rPr sz="1800" b="1">
                <a:solidFill>
                  <a:srgbClr val="299BD6"/>
                </a:solidFill>
              </a:rPr>
              <a:t>●  </a:t>
            </a:r>
            <a:r>
              <a:rPr sz="1800" b="0" i="0">
                <a:solidFill>
                  <a:srgbClr val="222222"/>
                </a:solidFill>
                <a:latin typeface="Calibri"/>
              </a:rPr>
              <a:t>MobileNetV2 (frozen, ImageNet-pretrained) reduced to 256-dimensional features, feeding RF / linear SVM / KNN / Gaussian NB.</a:t>
            </a:r>
          </a:p>
          <a:p>
            <a:pPr>
              <a:spcAft>
                <a:spcPts val="400"/>
              </a:spcAft>
            </a:pPr>
          </a:p>
          <a:p>
            <a:pPr>
              <a:spcAft>
                <a:spcPts val="900"/>
              </a:spcAft>
            </a:pPr>
            <a:r>
              <a:rPr sz="1800" b="1">
                <a:solidFill>
                  <a:srgbClr val="299BD6"/>
                </a:solidFill>
              </a:rPr>
              <a:t>●  </a:t>
            </a:r>
            <a:r>
              <a:rPr sz="1800" b="1" i="0">
                <a:solidFill>
                  <a:srgbClr val="222222"/>
                </a:solidFill>
                <a:latin typeface="Calibri"/>
              </a:rPr>
              <a:t>Reported results: </a:t>
            </a:r>
            <a:r>
              <a:rPr sz="1800" b="0" i="0">
                <a:solidFill>
                  <a:srgbClr val="222222"/>
                </a:solidFill>
                <a:latin typeface="Calibri"/>
              </a:rPr>
              <a:t>Naive Bayes 93.89%, Random Forest 93.57% (96.94% AUC), SVM 92.60% (95.61% AUC).</a:t>
            </a:r>
          </a:p>
          <a:p>
            <a:pPr>
              <a:spcAft>
                <a:spcPts val="900"/>
              </a:spcAft>
            </a:pPr>
            <a:r>
              <a:rPr sz="1800" b="1">
                <a:solidFill>
                  <a:srgbClr val="299BD6"/>
                </a:solidFill>
              </a:rPr>
              <a:t>●  </a:t>
            </a:r>
            <a:r>
              <a:rPr sz="1800" b="1" i="1">
                <a:solidFill>
                  <a:srgbClr val="C05911"/>
                </a:solidFill>
                <a:latin typeface="Calibri"/>
              </a:rPr>
              <a:t>McNemar's test: </a:t>
            </a:r>
            <a:r>
              <a:rPr sz="1800" b="0" i="0">
                <a:solidFill>
                  <a:srgbClr val="222222"/>
                </a:solidFill>
                <a:latin typeface="Calibri"/>
              </a:rPr>
              <a:t>no statistically significant difference between any of the four classifiers (p &gt; 0.05).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256032" y="256032"/>
            <a:ext cx="11679631" cy="6345936"/>
          </a:xfrm>
          <a:prstGeom prst="rect">
            <a:avLst/>
          </a:prstGeom>
          <a:noFill/>
          <a:ln w="22225">
            <a:solidFill>
              <a:srgbClr val="C059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6032" y="6217920"/>
            <a:ext cx="11679631" cy="384048"/>
          </a:xfrm>
          <a:prstGeom prst="rect">
            <a:avLst/>
          </a:prstGeom>
          <a:solidFill>
            <a:srgbClr val="C05911"/>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100" b="1">
                <a:solidFill>
                  <a:srgbClr val="FFFFFF"/>
                </a:solidFill>
              </a:rPr>
              <a:t>Advanced Machine Learning — Course Work Two</a:t>
            </a:r>
          </a:p>
        </p:txBody>
      </p:sp>
      <p:sp>
        <p:nvSpPr>
          <p:cNvPr id="4" name="TextBox 3"/>
          <p:cNvSpPr txBox="1"/>
          <p:nvPr/>
        </p:nvSpPr>
        <p:spPr>
          <a:xfrm>
            <a:off x="9923983" y="6217920"/>
            <a:ext cx="1828800" cy="384048"/>
          </a:xfrm>
          <a:prstGeom prst="rect">
            <a:avLst/>
          </a:prstGeom>
          <a:noFill/>
        </p:spPr>
        <p:txBody>
          <a:bodyPr wrap="none" anchor="ctr">
            <a:spAutoFit/>
          </a:bodyPr>
          <a:lstStyle/>
          <a:p>
            <a:pPr algn="r"/>
            <a:r>
              <a:rPr sz="1100" b="1">
                <a:solidFill>
                  <a:srgbClr val="FFFFFF"/>
                </a:solidFill>
              </a:rPr>
              <a:t>12/08/2026</a:t>
            </a:r>
          </a:p>
        </p:txBody>
      </p:sp>
      <p:sp>
        <p:nvSpPr>
          <p:cNvPr id="5" name="TextBox 4"/>
          <p:cNvSpPr txBox="1"/>
          <p:nvPr/>
        </p:nvSpPr>
        <p:spPr>
          <a:xfrm>
            <a:off x="502920" y="292608"/>
            <a:ext cx="11185855" cy="777240"/>
          </a:xfrm>
          <a:prstGeom prst="rect">
            <a:avLst/>
          </a:prstGeom>
          <a:noFill/>
        </p:spPr>
        <p:txBody>
          <a:bodyPr wrap="square">
            <a:spAutoFit/>
          </a:bodyPr>
          <a:lstStyle/>
          <a:p>
            <a:pPr algn="ctr"/>
            <a:r>
              <a:rPr sz="2700" b="1">
                <a:solidFill>
                  <a:srgbClr val="C05911"/>
                </a:solidFill>
                <a:latin typeface="Calibri"/>
              </a:rPr>
              <a:t>Task 3: Replication Approach and Challenges</a:t>
            </a:r>
          </a:p>
        </p:txBody>
      </p:sp>
      <p:cxnSp>
        <p:nvCxnSpPr>
          <p:cNvPr id="6" name="Connector 5"/>
          <p:cNvCxnSpPr/>
          <p:nvPr/>
        </p:nvCxnSpPr>
        <p:spPr>
          <a:xfrm>
            <a:off x="914400" y="1097280"/>
            <a:ext cx="10362895" cy="0"/>
          </a:xfrm>
          <a:prstGeom prst="line">
            <a:avLst/>
          </a:prstGeom>
          <a:ln w="12700">
            <a:solidFill>
              <a:srgbClr val="C05911"/>
            </a:solidFill>
            <a:prstDash val="dash"/>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5912967" y="914400"/>
            <a:ext cx="365760" cy="365760"/>
          </a:xfrm>
          <a:prstGeom prst="ellipse">
            <a:avLst/>
          </a:prstGeom>
          <a:solidFill>
            <a:srgbClr val="FFFFFF"/>
          </a:solidFill>
          <a:ln w="15875">
            <a:solidFill>
              <a:srgbClr val="C0591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C05911"/>
                </a:solidFill>
              </a:rPr>
              <a:t>17</a:t>
            </a:r>
          </a:p>
        </p:txBody>
      </p:sp>
      <p:sp>
        <p:nvSpPr>
          <p:cNvPr id="8" name="TextBox 7"/>
          <p:cNvSpPr txBox="1"/>
          <p:nvPr/>
        </p:nvSpPr>
        <p:spPr>
          <a:xfrm>
            <a:off x="594360" y="1298448"/>
            <a:ext cx="11002975" cy="4846320"/>
          </a:xfrm>
          <a:prstGeom prst="rect">
            <a:avLst/>
          </a:prstGeom>
          <a:noFill/>
        </p:spPr>
        <p:txBody>
          <a:bodyPr wrap="square">
            <a:spAutoFit/>
          </a:bodyPr>
          <a:lstStyle/>
          <a:p>
            <a:pPr>
              <a:spcAft>
                <a:spcPts val="900"/>
              </a:spcAft>
            </a:pPr>
            <a:r>
              <a:rPr sz="1700" b="1">
                <a:solidFill>
                  <a:srgbClr val="299BD6"/>
                </a:solidFill>
              </a:rPr>
              <a:t>●  </a:t>
            </a:r>
            <a:r>
              <a:rPr sz="1700" b="1" i="0">
                <a:solidFill>
                  <a:srgbClr val="222222"/>
                </a:solidFill>
                <a:latin typeface="Calibri"/>
              </a:rPr>
              <a:t>Full pipeline replicated in Google Colab: </a:t>
            </a:r>
            <a:r>
              <a:rPr sz="1700" b="0" i="0">
                <a:solidFill>
                  <a:srgbClr val="222222"/>
                </a:solidFill>
                <a:latin typeface="Calibri"/>
              </a:rPr>
              <a:t>download, binary merge, hash split, MobileNetV2 extraction, PCA reduction, all four classifiers, threshold tuning, McNemar test.</a:t>
            </a:r>
          </a:p>
          <a:p>
            <a:pPr>
              <a:spcAft>
                <a:spcPts val="900"/>
              </a:spcAft>
            </a:pPr>
            <a:r>
              <a:rPr sz="1700" b="1">
                <a:solidFill>
                  <a:srgbClr val="299BD6"/>
                </a:solidFill>
              </a:rPr>
              <a:t>●  </a:t>
            </a:r>
            <a:r>
              <a:rPr sz="1700" b="0" i="0">
                <a:solidFill>
                  <a:srgbClr val="222222"/>
                </a:solidFill>
                <a:latin typeface="Calibri"/>
              </a:rPr>
              <a:t>Documented replication choices (paper under-specified these):</a:t>
            </a:r>
          </a:p>
          <a:p>
            <a:pPr>
              <a:spcAft>
                <a:spcPts val="500"/>
              </a:spcAft>
            </a:pPr>
            <a:r>
              <a:t>      –  </a:t>
            </a:r>
            <a:r>
              <a:rPr sz="1500" b="0" i="0">
                <a:solidFill>
                  <a:srgbClr val="222222"/>
                </a:solidFill>
                <a:latin typeface="Calibri"/>
              </a:rPr>
              <a:t>1280→256 reduction: paper doesn't state method — I use PCA fit on the training split only.</a:t>
            </a:r>
          </a:p>
          <a:p>
            <a:pPr>
              <a:spcAft>
                <a:spcPts val="500"/>
              </a:spcAft>
            </a:pPr>
            <a:r>
              <a:t>      –  </a:t>
            </a:r>
            <a:r>
              <a:rPr sz="1500" b="0" i="0">
                <a:solidFill>
                  <a:srgbClr val="222222"/>
                </a:solidFill>
                <a:latin typeface="Calibri"/>
              </a:rPr>
              <a:t>Hash function for the grouped split: paper doesn't publish it — I use MD5(filename) mod 1000.</a:t>
            </a:r>
          </a:p>
          <a:p>
            <a:pPr>
              <a:spcAft>
                <a:spcPts val="400"/>
              </a:spcAft>
            </a:pPr>
          </a:p>
          <a:p>
            <a:pPr>
              <a:spcAft>
                <a:spcPts val="900"/>
              </a:spcAft>
            </a:pPr>
            <a:r>
              <a:rPr sz="1700" b="1">
                <a:solidFill>
                  <a:srgbClr val="299BD6"/>
                </a:solidFill>
              </a:rPr>
              <a:t>●  </a:t>
            </a:r>
            <a:r>
              <a:rPr sz="1700" b="1" i="1">
                <a:solidFill>
                  <a:srgbClr val="C05911"/>
                </a:solidFill>
                <a:latin typeface="Calibri"/>
              </a:rPr>
              <a:t>Expected pattern if replication succeeds: </a:t>
            </a:r>
            <a:r>
              <a:rPr sz="1700" b="0" i="0">
                <a:solidFill>
                  <a:srgbClr val="222222"/>
                </a:solidFill>
                <a:latin typeface="Calibri"/>
              </a:rPr>
              <a:t>all four classifiers should cluster within a few points of 92–94%, not one dominating — matching the paper's own McNemar conclusion.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256032" y="256032"/>
            <a:ext cx="11679631" cy="6345936"/>
          </a:xfrm>
          <a:prstGeom prst="rect">
            <a:avLst/>
          </a:prstGeom>
          <a:noFill/>
          <a:ln w="22225">
            <a:solidFill>
              <a:srgbClr val="C059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6032" y="6217920"/>
            <a:ext cx="11679631" cy="384048"/>
          </a:xfrm>
          <a:prstGeom prst="rect">
            <a:avLst/>
          </a:prstGeom>
          <a:solidFill>
            <a:srgbClr val="C05911"/>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100" b="1">
                <a:solidFill>
                  <a:srgbClr val="FFFFFF"/>
                </a:solidFill>
              </a:rPr>
              <a:t>Advanced Machine Learning — Course Work Two</a:t>
            </a:r>
          </a:p>
        </p:txBody>
      </p:sp>
      <p:sp>
        <p:nvSpPr>
          <p:cNvPr id="4" name="TextBox 3"/>
          <p:cNvSpPr txBox="1"/>
          <p:nvPr/>
        </p:nvSpPr>
        <p:spPr>
          <a:xfrm>
            <a:off x="9923983" y="6217920"/>
            <a:ext cx="1828800" cy="384048"/>
          </a:xfrm>
          <a:prstGeom prst="rect">
            <a:avLst/>
          </a:prstGeom>
          <a:noFill/>
        </p:spPr>
        <p:txBody>
          <a:bodyPr wrap="none" anchor="ctr">
            <a:spAutoFit/>
          </a:bodyPr>
          <a:lstStyle/>
          <a:p>
            <a:pPr algn="r"/>
            <a:r>
              <a:rPr sz="1100" b="1">
                <a:solidFill>
                  <a:srgbClr val="FFFFFF"/>
                </a:solidFill>
              </a:rPr>
              <a:t>12/08/2026</a:t>
            </a:r>
          </a:p>
        </p:txBody>
      </p:sp>
      <p:sp>
        <p:nvSpPr>
          <p:cNvPr id="5" name="TextBox 4"/>
          <p:cNvSpPr txBox="1"/>
          <p:nvPr/>
        </p:nvSpPr>
        <p:spPr>
          <a:xfrm>
            <a:off x="502920" y="292608"/>
            <a:ext cx="11185855" cy="777240"/>
          </a:xfrm>
          <a:prstGeom prst="rect">
            <a:avLst/>
          </a:prstGeom>
          <a:noFill/>
        </p:spPr>
        <p:txBody>
          <a:bodyPr wrap="square">
            <a:spAutoFit/>
          </a:bodyPr>
          <a:lstStyle/>
          <a:p>
            <a:pPr algn="ctr"/>
            <a:r>
              <a:rPr sz="2700" b="1">
                <a:solidFill>
                  <a:srgbClr val="C05911"/>
                </a:solidFill>
                <a:latin typeface="Calibri"/>
              </a:rPr>
              <a:t>Task 4: Research Gaps Identified</a:t>
            </a:r>
          </a:p>
        </p:txBody>
      </p:sp>
      <p:cxnSp>
        <p:nvCxnSpPr>
          <p:cNvPr id="6" name="Connector 5"/>
          <p:cNvCxnSpPr/>
          <p:nvPr/>
        </p:nvCxnSpPr>
        <p:spPr>
          <a:xfrm>
            <a:off x="914400" y="1097280"/>
            <a:ext cx="10362895" cy="0"/>
          </a:xfrm>
          <a:prstGeom prst="line">
            <a:avLst/>
          </a:prstGeom>
          <a:ln w="12700">
            <a:solidFill>
              <a:srgbClr val="C05911"/>
            </a:solidFill>
            <a:prstDash val="dash"/>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5912967" y="914400"/>
            <a:ext cx="365760" cy="365760"/>
          </a:xfrm>
          <a:prstGeom prst="ellipse">
            <a:avLst/>
          </a:prstGeom>
          <a:solidFill>
            <a:srgbClr val="FFFFFF"/>
          </a:solidFill>
          <a:ln w="15875">
            <a:solidFill>
              <a:srgbClr val="C0591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C05911"/>
                </a:solidFill>
              </a:rPr>
              <a:t>18</a:t>
            </a:r>
          </a:p>
        </p:txBody>
      </p:sp>
      <p:sp>
        <p:nvSpPr>
          <p:cNvPr id="8" name="TextBox 7"/>
          <p:cNvSpPr txBox="1"/>
          <p:nvPr/>
        </p:nvSpPr>
        <p:spPr>
          <a:xfrm>
            <a:off x="594360" y="1298448"/>
            <a:ext cx="11002975" cy="4846320"/>
          </a:xfrm>
          <a:prstGeom prst="rect">
            <a:avLst/>
          </a:prstGeom>
          <a:noFill/>
        </p:spPr>
        <p:txBody>
          <a:bodyPr wrap="square">
            <a:spAutoFit/>
          </a:bodyPr>
          <a:lstStyle/>
          <a:p>
            <a:pPr>
              <a:spcAft>
                <a:spcPts val="900"/>
              </a:spcAft>
            </a:pPr>
            <a:r>
              <a:rPr sz="1800" b="1">
                <a:solidFill>
                  <a:srgbClr val="299BD6"/>
                </a:solidFill>
              </a:rPr>
              <a:t>●  </a:t>
            </a:r>
            <a:r>
              <a:rPr sz="1800" b="0" i="0">
                <a:solidFill>
                  <a:srgbClr val="222222"/>
                </a:solidFill>
                <a:latin typeface="Calibri"/>
              </a:rPr>
              <a:t>1. No Uganda-specific dataset has ever been benchmarked with RF/SVM — Bişkin (2026) tested a Uganda dataset only with CNN/Transformer ensembles.</a:t>
            </a:r>
          </a:p>
          <a:p>
            <a:pPr>
              <a:spcAft>
                <a:spcPts val="900"/>
              </a:spcAft>
            </a:pPr>
            <a:r>
              <a:rPr sz="1800" b="1">
                <a:solidFill>
                  <a:srgbClr val="299BD6"/>
                </a:solidFill>
              </a:rPr>
              <a:t>●  </a:t>
            </a:r>
            <a:r>
              <a:rPr sz="1800" b="0" i="0">
                <a:solidFill>
                  <a:srgbClr val="222222"/>
                </a:solidFill>
                <a:latin typeface="Calibri"/>
              </a:rPr>
              <a:t>2. Classical-ML accuracy drops sharply from binary (~93–99%) to multiclass (~92%) — an 8-point cliff (Ardah et al., 2025).</a:t>
            </a:r>
          </a:p>
          <a:p>
            <a:pPr>
              <a:spcAft>
                <a:spcPts val="900"/>
              </a:spcAft>
            </a:pPr>
            <a:r>
              <a:rPr sz="1800" b="1">
                <a:solidFill>
                  <a:srgbClr val="299BD6"/>
                </a:solidFill>
              </a:rPr>
              <a:t>●  </a:t>
            </a:r>
            <a:r>
              <a:rPr sz="1800" b="0" i="0">
                <a:solidFill>
                  <a:srgbClr val="222222"/>
                </a:solidFill>
                <a:latin typeface="Calibri"/>
              </a:rPr>
              <a:t>3. A persistent lab-condition vs. real-world gap: 99% on curated datasets vs. 84% on RoCoLe's uncontrolled backgrounds (Faisal et al., 2023).</a:t>
            </a:r>
          </a:p>
          <a:p>
            <a:pPr>
              <a:spcAft>
                <a:spcPts val="900"/>
              </a:spcAft>
            </a:pPr>
            <a:r>
              <a:rPr sz="1800" b="1">
                <a:solidFill>
                  <a:srgbClr val="299BD6"/>
                </a:solidFill>
              </a:rPr>
              <a:t>●  </a:t>
            </a:r>
            <a:r>
              <a:rPr sz="1800" b="0" i="0">
                <a:solidFill>
                  <a:srgbClr val="222222"/>
                </a:solidFill>
                <a:latin typeface="Calibri"/>
              </a:rPr>
              <a:t>4. No RF/SVM-specific mathematical enhancement mirrors the CNN-side innovations (class-conditional fusion, centroid-loss weighting).</a:t>
            </a:r>
          </a:p>
          <a:p>
            <a:pPr>
              <a:spcAft>
                <a:spcPts val="900"/>
              </a:spcAft>
            </a:pPr>
            <a:r>
              <a:rPr sz="1800" b="1">
                <a:solidFill>
                  <a:srgbClr val="299BD6"/>
                </a:solidFill>
              </a:rPr>
              <a:t>●  </a:t>
            </a:r>
            <a:r>
              <a:rPr sz="1800" b="0" i="0">
                <a:solidFill>
                  <a:srgbClr val="222222"/>
                </a:solidFill>
                <a:latin typeface="Calibri"/>
              </a:rPr>
              <a:t>5. The interpretability-accuracy trade-off is asserted throughout this coursework — but never quantified head-to-head on shared data.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256032" y="256032"/>
            <a:ext cx="11679631" cy="6345936"/>
          </a:xfrm>
          <a:prstGeom prst="rect">
            <a:avLst/>
          </a:prstGeom>
          <a:noFill/>
          <a:ln w="22225">
            <a:solidFill>
              <a:srgbClr val="C059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6032" y="6217920"/>
            <a:ext cx="11679631" cy="384048"/>
          </a:xfrm>
          <a:prstGeom prst="rect">
            <a:avLst/>
          </a:prstGeom>
          <a:solidFill>
            <a:srgbClr val="C05911"/>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100" b="1">
                <a:solidFill>
                  <a:srgbClr val="FFFFFF"/>
                </a:solidFill>
              </a:rPr>
              <a:t>Advanced Machine Learning — Course Work Two</a:t>
            </a:r>
          </a:p>
        </p:txBody>
      </p:sp>
      <p:sp>
        <p:nvSpPr>
          <p:cNvPr id="4" name="TextBox 3"/>
          <p:cNvSpPr txBox="1"/>
          <p:nvPr/>
        </p:nvSpPr>
        <p:spPr>
          <a:xfrm>
            <a:off x="9923983" y="6217920"/>
            <a:ext cx="1828800" cy="384048"/>
          </a:xfrm>
          <a:prstGeom prst="rect">
            <a:avLst/>
          </a:prstGeom>
          <a:noFill/>
        </p:spPr>
        <p:txBody>
          <a:bodyPr wrap="none" anchor="ctr">
            <a:spAutoFit/>
          </a:bodyPr>
          <a:lstStyle/>
          <a:p>
            <a:pPr algn="r"/>
            <a:r>
              <a:rPr sz="1100" b="1">
                <a:solidFill>
                  <a:srgbClr val="FFFFFF"/>
                </a:solidFill>
              </a:rPr>
              <a:t>12/08/2026</a:t>
            </a:r>
          </a:p>
        </p:txBody>
      </p:sp>
      <p:sp>
        <p:nvSpPr>
          <p:cNvPr id="5" name="TextBox 4"/>
          <p:cNvSpPr txBox="1"/>
          <p:nvPr/>
        </p:nvSpPr>
        <p:spPr>
          <a:xfrm>
            <a:off x="502920" y="292608"/>
            <a:ext cx="11185855" cy="777240"/>
          </a:xfrm>
          <a:prstGeom prst="rect">
            <a:avLst/>
          </a:prstGeom>
          <a:noFill/>
        </p:spPr>
        <p:txBody>
          <a:bodyPr wrap="square">
            <a:spAutoFit/>
          </a:bodyPr>
          <a:lstStyle/>
          <a:p>
            <a:pPr algn="ctr"/>
            <a:r>
              <a:rPr sz="2700" b="1">
                <a:solidFill>
                  <a:srgbClr val="C05911"/>
                </a:solidFill>
                <a:latin typeface="Calibri"/>
              </a:rPr>
              <a:t>Task 4: Proposed Solution</a:t>
            </a:r>
          </a:p>
        </p:txBody>
      </p:sp>
      <p:cxnSp>
        <p:nvCxnSpPr>
          <p:cNvPr id="6" name="Connector 5"/>
          <p:cNvCxnSpPr/>
          <p:nvPr/>
        </p:nvCxnSpPr>
        <p:spPr>
          <a:xfrm>
            <a:off x="914400" y="1097280"/>
            <a:ext cx="10362895" cy="0"/>
          </a:xfrm>
          <a:prstGeom prst="line">
            <a:avLst/>
          </a:prstGeom>
          <a:ln w="12700">
            <a:solidFill>
              <a:srgbClr val="C05911"/>
            </a:solidFill>
            <a:prstDash val="dash"/>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5912967" y="914400"/>
            <a:ext cx="365760" cy="365760"/>
          </a:xfrm>
          <a:prstGeom prst="ellipse">
            <a:avLst/>
          </a:prstGeom>
          <a:solidFill>
            <a:srgbClr val="FFFFFF"/>
          </a:solidFill>
          <a:ln w="15875">
            <a:solidFill>
              <a:srgbClr val="C0591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C05911"/>
                </a:solidFill>
              </a:rPr>
              <a:t>19</a:t>
            </a:r>
          </a:p>
        </p:txBody>
      </p:sp>
      <p:sp>
        <p:nvSpPr>
          <p:cNvPr id="8" name="TextBox 7"/>
          <p:cNvSpPr txBox="1"/>
          <p:nvPr/>
        </p:nvSpPr>
        <p:spPr>
          <a:xfrm>
            <a:off x="594360" y="1298448"/>
            <a:ext cx="11002975" cy="4846320"/>
          </a:xfrm>
          <a:prstGeom prst="rect">
            <a:avLst/>
          </a:prstGeom>
          <a:noFill/>
        </p:spPr>
        <p:txBody>
          <a:bodyPr wrap="square">
            <a:spAutoFit/>
          </a:bodyPr>
          <a:lstStyle/>
          <a:p>
            <a:pPr>
              <a:spcAft>
                <a:spcPts val="900"/>
              </a:spcAft>
            </a:pPr>
            <a:r>
              <a:rPr sz="1700" b="1">
                <a:solidFill>
                  <a:srgbClr val="299BD6"/>
                </a:solidFill>
              </a:rPr>
              <a:t>●  </a:t>
            </a:r>
            <a:r>
              <a:rPr sz="1700" b="1" i="1">
                <a:solidFill>
                  <a:srgbClr val="C05911"/>
                </a:solidFill>
                <a:latin typeface="Calibri"/>
              </a:rPr>
              <a:t>A class-conditional, cost-sensitive Random Forest–SVM stacking ensemble</a:t>
            </a:r>
            <a:r>
              <a:rPr sz="1700" b="0" i="0">
                <a:solidFill>
                  <a:srgbClr val="222222"/>
                </a:solidFill>
                <a:latin typeface="Calibri"/>
              </a:rPr>
              <a:t>, extending two published equations into a form native to classical ML.</a:t>
            </a:r>
          </a:p>
          <a:p>
            <a:pPr>
              <a:spcAft>
                <a:spcPts val="900"/>
              </a:spcAft>
            </a:pPr>
            <a:r>
              <a:rPr sz="1700" b="1">
                <a:solidFill>
                  <a:srgbClr val="299BD6"/>
                </a:solidFill>
              </a:rPr>
              <a:t>●  </a:t>
            </a:r>
            <a:r>
              <a:rPr sz="1700" b="0" i="0">
                <a:solidFill>
                  <a:srgbClr val="222222"/>
                </a:solidFill>
                <a:latin typeface="Calibri"/>
              </a:rPr>
              <a:t>1. Class-conditional expert weighting (extends Bişkin, 2026)</a:t>
            </a:r>
          </a:p>
          <a:p>
            <a:pPr>
              <a:spcAft>
                <a:spcPts val="500"/>
              </a:spcAft>
            </a:pPr>
            <a:r>
              <a:t>      –  </a:t>
            </a:r>
            <a:r>
              <a:rPr sz="1500" b="0" i="0">
                <a:solidFill>
                  <a:srgbClr val="222222"/>
                </a:solidFill>
                <a:latin typeface="Calibri"/>
              </a:rPr>
              <a:t>p̃(x) = p̂(x) + β·p_e(c)(x), where e(c) = argmax over m of F1 of model m on class c.</a:t>
            </a:r>
          </a:p>
          <a:p>
            <a:pPr>
              <a:spcAft>
                <a:spcPts val="900"/>
              </a:spcAft>
            </a:pPr>
            <a:r>
              <a:rPr sz="1700" b="1">
                <a:solidFill>
                  <a:srgbClr val="299BD6"/>
                </a:solidFill>
              </a:rPr>
              <a:t>●  </a:t>
            </a:r>
            <a:r>
              <a:rPr sz="1700" b="0" i="0">
                <a:solidFill>
                  <a:srgbClr val="222222"/>
                </a:solidFill>
                <a:latin typeface="Calibri"/>
              </a:rPr>
              <a:t>2. Cost-sensitive Gini splitting (extends Task 6's RF mathematics)</a:t>
            </a:r>
          </a:p>
          <a:p>
            <a:pPr>
              <a:spcAft>
                <a:spcPts val="500"/>
              </a:spcAft>
            </a:pPr>
            <a:r>
              <a:t>      –  </a:t>
            </a:r>
            <a:r>
              <a:rPr sz="1500" b="0" i="0">
                <a:solidFill>
                  <a:srgbClr val="222222"/>
                </a:solidFill>
                <a:latin typeface="Calibri"/>
              </a:rPr>
              <a:t>Gini_weighted(t) = 1 − Σ w_i·p_i², with w_i proportional to 1/n_i, directly countering minority-class disadvantage.</a:t>
            </a:r>
          </a:p>
          <a:p>
            <a:pPr>
              <a:spcAft>
                <a:spcPts val="400"/>
              </a:spcAft>
            </a:pPr>
          </a:p>
          <a:p>
            <a:pPr>
              <a:spcAft>
                <a:spcPts val="900"/>
              </a:spcAft>
            </a:pPr>
            <a:r>
              <a:rPr sz="1700" b="1">
                <a:solidFill>
                  <a:srgbClr val="299BD6"/>
                </a:solidFill>
              </a:rPr>
              <a:t>●  </a:t>
            </a:r>
            <a:r>
              <a:rPr sz="1700" b="1" i="0">
                <a:solidFill>
                  <a:srgbClr val="222222"/>
                </a:solidFill>
                <a:latin typeface="Calibri"/>
              </a:rPr>
              <a:t>Targets Gaps 1–4 directly; </a:t>
            </a:r>
            <a:r>
              <a:rPr sz="1700" b="0" i="0">
                <a:solidFill>
                  <a:srgbClr val="222222"/>
                </a:solidFill>
                <a:latin typeface="Calibri"/>
              </a:rPr>
              <a:t>Gap 5 is addressed structurally, since RF's interpretability is never traded away.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256032" y="256032"/>
            <a:ext cx="11679631" cy="6345936"/>
          </a:xfrm>
          <a:prstGeom prst="rect">
            <a:avLst/>
          </a:prstGeom>
          <a:noFill/>
          <a:ln w="22225">
            <a:solidFill>
              <a:srgbClr val="C059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6032" y="6217920"/>
            <a:ext cx="11679631" cy="384048"/>
          </a:xfrm>
          <a:prstGeom prst="rect">
            <a:avLst/>
          </a:prstGeom>
          <a:solidFill>
            <a:srgbClr val="C05911"/>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100" b="1">
                <a:solidFill>
                  <a:srgbClr val="FFFFFF"/>
                </a:solidFill>
              </a:rPr>
              <a:t>Advanced Machine Learning — Course Work Two</a:t>
            </a:r>
          </a:p>
        </p:txBody>
      </p:sp>
      <p:sp>
        <p:nvSpPr>
          <p:cNvPr id="4" name="TextBox 3"/>
          <p:cNvSpPr txBox="1"/>
          <p:nvPr/>
        </p:nvSpPr>
        <p:spPr>
          <a:xfrm>
            <a:off x="9923983" y="6217920"/>
            <a:ext cx="1828800" cy="384048"/>
          </a:xfrm>
          <a:prstGeom prst="rect">
            <a:avLst/>
          </a:prstGeom>
          <a:noFill/>
        </p:spPr>
        <p:txBody>
          <a:bodyPr wrap="none" anchor="ctr">
            <a:spAutoFit/>
          </a:bodyPr>
          <a:lstStyle/>
          <a:p>
            <a:pPr algn="r"/>
            <a:r>
              <a:rPr sz="1100" b="1">
                <a:solidFill>
                  <a:srgbClr val="FFFFFF"/>
                </a:solidFill>
              </a:rPr>
              <a:t>12/08/2026</a:t>
            </a:r>
          </a:p>
        </p:txBody>
      </p:sp>
      <p:sp>
        <p:nvSpPr>
          <p:cNvPr id="5" name="TextBox 4"/>
          <p:cNvSpPr txBox="1"/>
          <p:nvPr/>
        </p:nvSpPr>
        <p:spPr>
          <a:xfrm>
            <a:off x="502920" y="292608"/>
            <a:ext cx="11185855" cy="777240"/>
          </a:xfrm>
          <a:prstGeom prst="rect">
            <a:avLst/>
          </a:prstGeom>
          <a:noFill/>
        </p:spPr>
        <p:txBody>
          <a:bodyPr wrap="square">
            <a:spAutoFit/>
          </a:bodyPr>
          <a:lstStyle/>
          <a:p>
            <a:pPr algn="ctr"/>
            <a:r>
              <a:rPr sz="2700" b="1">
                <a:solidFill>
                  <a:srgbClr val="C05911"/>
                </a:solidFill>
                <a:latin typeface="Calibri"/>
              </a:rPr>
              <a:t>Task 5: Master's Research Topic</a:t>
            </a:r>
          </a:p>
        </p:txBody>
      </p:sp>
      <p:cxnSp>
        <p:nvCxnSpPr>
          <p:cNvPr id="6" name="Connector 5"/>
          <p:cNvCxnSpPr/>
          <p:nvPr/>
        </p:nvCxnSpPr>
        <p:spPr>
          <a:xfrm>
            <a:off x="914400" y="1097280"/>
            <a:ext cx="10362895" cy="0"/>
          </a:xfrm>
          <a:prstGeom prst="line">
            <a:avLst/>
          </a:prstGeom>
          <a:ln w="12700">
            <a:solidFill>
              <a:srgbClr val="C05911"/>
            </a:solidFill>
            <a:prstDash val="dash"/>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5912967" y="914400"/>
            <a:ext cx="365760" cy="365760"/>
          </a:xfrm>
          <a:prstGeom prst="ellipse">
            <a:avLst/>
          </a:prstGeom>
          <a:solidFill>
            <a:srgbClr val="FFFFFF"/>
          </a:solidFill>
          <a:ln w="15875">
            <a:solidFill>
              <a:srgbClr val="C0591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C05911"/>
                </a:solidFill>
              </a:rPr>
              <a:t>20</a:t>
            </a:r>
          </a:p>
        </p:txBody>
      </p:sp>
      <p:sp>
        <p:nvSpPr>
          <p:cNvPr id="8" name="TextBox 7"/>
          <p:cNvSpPr txBox="1"/>
          <p:nvPr/>
        </p:nvSpPr>
        <p:spPr>
          <a:xfrm>
            <a:off x="594360" y="1298448"/>
            <a:ext cx="11002975" cy="4846320"/>
          </a:xfrm>
          <a:prstGeom prst="rect">
            <a:avLst/>
          </a:prstGeom>
          <a:noFill/>
        </p:spPr>
        <p:txBody>
          <a:bodyPr wrap="square">
            <a:spAutoFit/>
          </a:bodyPr>
          <a:lstStyle/>
          <a:p>
            <a:pPr>
              <a:spcAft>
                <a:spcPts val="900"/>
              </a:spcAft>
            </a:pPr>
            <a:r>
              <a:rPr sz="1700" b="1">
                <a:solidFill>
                  <a:srgbClr val="299BD6"/>
                </a:solidFill>
              </a:rPr>
              <a:t>●  </a:t>
            </a:r>
            <a:r>
              <a:rPr sz="1700" b="1" i="1">
                <a:solidFill>
                  <a:srgbClr val="C05911"/>
                </a:solidFill>
                <a:latin typeface="Calibri"/>
              </a:rPr>
              <a:t>“A Class-Conditional, Cost-Sensitive Random Forest–SVM Ensemble for Interpretable, Multiclass Arabica and Robusta Coffee Leaf Disease Classification in Smallholder Ugandan Farming Systems”</a:t>
            </a:r>
          </a:p>
          <a:p>
            <a:pPr>
              <a:spcAft>
                <a:spcPts val="400"/>
              </a:spcAft>
            </a:pPr>
          </a:p>
          <a:p>
            <a:pPr>
              <a:spcAft>
                <a:spcPts val="900"/>
              </a:spcAft>
            </a:pPr>
            <a:r>
              <a:rPr sz="1700" b="1">
                <a:solidFill>
                  <a:srgbClr val="299BD6"/>
                </a:solidFill>
              </a:rPr>
              <a:t>●  </a:t>
            </a:r>
            <a:r>
              <a:rPr sz="1700" b="0" i="0">
                <a:solidFill>
                  <a:srgbClr val="222222"/>
                </a:solidFill>
                <a:latin typeface="Calibri"/>
              </a:rPr>
              <a:t>Research Question 1</a:t>
            </a:r>
          </a:p>
          <a:p>
            <a:pPr>
              <a:spcAft>
                <a:spcPts val="500"/>
              </a:spcAft>
            </a:pPr>
            <a:r>
              <a:t>      –  </a:t>
            </a:r>
            <a:r>
              <a:rPr sz="1500" b="0" i="0">
                <a:solidFill>
                  <a:srgbClr val="222222"/>
                </a:solidFill>
                <a:latin typeface="Calibri"/>
              </a:rPr>
              <a:t>Can the ensemble close the multiclass accuracy gap while remaining CPU-deployable?</a:t>
            </a:r>
          </a:p>
          <a:p>
            <a:pPr>
              <a:spcAft>
                <a:spcPts val="900"/>
              </a:spcAft>
            </a:pPr>
            <a:r>
              <a:rPr sz="1700" b="1">
                <a:solidFill>
                  <a:srgbClr val="299BD6"/>
                </a:solidFill>
              </a:rPr>
              <a:t>●  </a:t>
            </a:r>
            <a:r>
              <a:rPr sz="1700" b="0" i="0">
                <a:solidFill>
                  <a:srgbClr val="222222"/>
                </a:solidFill>
                <a:latin typeface="Calibri"/>
              </a:rPr>
              <a:t>Research Question 2</a:t>
            </a:r>
          </a:p>
          <a:p>
            <a:pPr>
              <a:spcAft>
                <a:spcPts val="500"/>
              </a:spcAft>
            </a:pPr>
            <a:r>
              <a:t>      –  </a:t>
            </a:r>
            <a:r>
              <a:rPr sz="1500" b="0" i="0">
                <a:solidFill>
                  <a:srgbClr val="222222"/>
                </a:solidFill>
                <a:latin typeface="Calibri"/>
              </a:rPr>
              <a:t>Does cost-sensitive splitting measurably improve minority-class (Cercospora) recall?</a:t>
            </a:r>
          </a:p>
          <a:p>
            <a:pPr>
              <a:spcAft>
                <a:spcPts val="900"/>
              </a:spcAft>
            </a:pPr>
            <a:r>
              <a:rPr sz="1700" b="1">
                <a:solidFill>
                  <a:srgbClr val="299BD6"/>
                </a:solidFill>
              </a:rPr>
              <a:t>●  </a:t>
            </a:r>
            <a:r>
              <a:rPr sz="1700" b="0" i="0">
                <a:solidFill>
                  <a:srgbClr val="222222"/>
                </a:solidFill>
                <a:latin typeface="Calibri"/>
              </a:rPr>
              <a:t>Research Question 3</a:t>
            </a:r>
          </a:p>
          <a:p>
            <a:pPr>
              <a:spcAft>
                <a:spcPts val="500"/>
              </a:spcAft>
            </a:pPr>
            <a:r>
              <a:t>      –  </a:t>
            </a:r>
            <a:r>
              <a:rPr sz="1500" b="0" i="0">
                <a:solidFill>
                  <a:srgbClr val="222222"/>
                </a:solidFill>
                <a:latin typeface="Calibri"/>
              </a:rPr>
              <a:t>What is the quantified accuracy cost of retaining interpretability, versus Bişkin's (2026) CNN/Transformer ensemble on the same data?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256032" y="256032"/>
            <a:ext cx="11679631" cy="6345936"/>
          </a:xfrm>
          <a:prstGeom prst="rect">
            <a:avLst/>
          </a:prstGeom>
          <a:noFill/>
          <a:ln w="22225">
            <a:solidFill>
              <a:srgbClr val="C059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6032" y="6217920"/>
            <a:ext cx="11679631" cy="384048"/>
          </a:xfrm>
          <a:prstGeom prst="rect">
            <a:avLst/>
          </a:prstGeom>
          <a:solidFill>
            <a:srgbClr val="C05911"/>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100" b="1">
                <a:solidFill>
                  <a:srgbClr val="FFFFFF"/>
                </a:solidFill>
              </a:rPr>
              <a:t>Advanced Machine Learning — Course Work Two</a:t>
            </a:r>
          </a:p>
        </p:txBody>
      </p:sp>
      <p:sp>
        <p:nvSpPr>
          <p:cNvPr id="4" name="TextBox 3"/>
          <p:cNvSpPr txBox="1"/>
          <p:nvPr/>
        </p:nvSpPr>
        <p:spPr>
          <a:xfrm>
            <a:off x="9923983" y="6217920"/>
            <a:ext cx="1828800" cy="384048"/>
          </a:xfrm>
          <a:prstGeom prst="rect">
            <a:avLst/>
          </a:prstGeom>
          <a:noFill/>
        </p:spPr>
        <p:txBody>
          <a:bodyPr wrap="none" anchor="ctr">
            <a:spAutoFit/>
          </a:bodyPr>
          <a:lstStyle/>
          <a:p>
            <a:pPr algn="r"/>
            <a:r>
              <a:rPr sz="1100" b="1">
                <a:solidFill>
                  <a:srgbClr val="FFFFFF"/>
                </a:solidFill>
              </a:rPr>
              <a:t>12/08/2026</a:t>
            </a:r>
          </a:p>
        </p:txBody>
      </p:sp>
      <p:sp>
        <p:nvSpPr>
          <p:cNvPr id="5" name="TextBox 4"/>
          <p:cNvSpPr txBox="1"/>
          <p:nvPr/>
        </p:nvSpPr>
        <p:spPr>
          <a:xfrm>
            <a:off x="502920" y="292608"/>
            <a:ext cx="11185855" cy="777240"/>
          </a:xfrm>
          <a:prstGeom prst="rect">
            <a:avLst/>
          </a:prstGeom>
          <a:noFill/>
        </p:spPr>
        <p:txBody>
          <a:bodyPr wrap="square">
            <a:spAutoFit/>
          </a:bodyPr>
          <a:lstStyle/>
          <a:p>
            <a:pPr algn="ctr"/>
            <a:r>
              <a:rPr sz="2700" b="1">
                <a:solidFill>
                  <a:srgbClr val="C05911"/>
                </a:solidFill>
                <a:latin typeface="Calibri"/>
              </a:rPr>
              <a:t>Task 6: Mathematics of Random Forest</a:t>
            </a:r>
          </a:p>
        </p:txBody>
      </p:sp>
      <p:cxnSp>
        <p:nvCxnSpPr>
          <p:cNvPr id="6" name="Connector 5"/>
          <p:cNvCxnSpPr/>
          <p:nvPr/>
        </p:nvCxnSpPr>
        <p:spPr>
          <a:xfrm>
            <a:off x="914400" y="1097280"/>
            <a:ext cx="10362895" cy="0"/>
          </a:xfrm>
          <a:prstGeom prst="line">
            <a:avLst/>
          </a:prstGeom>
          <a:ln w="12700">
            <a:solidFill>
              <a:srgbClr val="C05911"/>
            </a:solidFill>
            <a:prstDash val="dash"/>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5912967" y="914400"/>
            <a:ext cx="365760" cy="365760"/>
          </a:xfrm>
          <a:prstGeom prst="ellipse">
            <a:avLst/>
          </a:prstGeom>
          <a:solidFill>
            <a:srgbClr val="FFFFFF"/>
          </a:solidFill>
          <a:ln w="15875">
            <a:solidFill>
              <a:srgbClr val="C0591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C05911"/>
                </a:solidFill>
              </a:rPr>
              <a:t>21</a:t>
            </a:r>
          </a:p>
        </p:txBody>
      </p:sp>
      <p:sp>
        <p:nvSpPr>
          <p:cNvPr id="8" name="TextBox 7"/>
          <p:cNvSpPr txBox="1"/>
          <p:nvPr/>
        </p:nvSpPr>
        <p:spPr>
          <a:xfrm>
            <a:off x="594360" y="1298448"/>
            <a:ext cx="11002975" cy="4846320"/>
          </a:xfrm>
          <a:prstGeom prst="rect">
            <a:avLst/>
          </a:prstGeom>
          <a:noFill/>
        </p:spPr>
        <p:txBody>
          <a:bodyPr wrap="square">
            <a:spAutoFit/>
          </a:bodyPr>
          <a:lstStyle/>
          <a:p>
            <a:pPr>
              <a:spcAft>
                <a:spcPts val="900"/>
              </a:spcAft>
            </a:pPr>
            <a:r>
              <a:rPr sz="1800" b="1">
                <a:solidFill>
                  <a:srgbClr val="299BD6"/>
                </a:solidFill>
              </a:rPr>
              <a:t>●  </a:t>
            </a:r>
            <a:r>
              <a:rPr sz="1800" b="1" i="0">
                <a:solidFill>
                  <a:srgbClr val="222222"/>
                </a:solidFill>
                <a:latin typeface="Calibri"/>
              </a:rPr>
              <a:t>Bagging variance reduction: </a:t>
            </a:r>
            <a:r>
              <a:rPr sz="1800" b="0" i="0">
                <a:solidFill>
                  <a:srgbClr val="222222"/>
                </a:solidFill>
                <a:latin typeface="Calibri"/>
              </a:rPr>
              <a:t>Var(f̄(x)) = ρσ² + [(1−ρ)/B]·σ² — feature-subsampling lowers ρ, which bagging alone cannot do.</a:t>
            </a:r>
          </a:p>
          <a:p>
            <a:pPr>
              <a:spcAft>
                <a:spcPts val="900"/>
              </a:spcAft>
            </a:pPr>
            <a:r>
              <a:rPr sz="1800" b="1">
                <a:solidFill>
                  <a:srgbClr val="299BD6"/>
                </a:solidFill>
              </a:rPr>
              <a:t>●  </a:t>
            </a:r>
            <a:r>
              <a:rPr sz="1800" b="1" i="0">
                <a:solidFill>
                  <a:srgbClr val="222222"/>
                </a:solidFill>
                <a:latin typeface="Calibri"/>
              </a:rPr>
              <a:t>Gini impurity split criterion: </a:t>
            </a:r>
            <a:r>
              <a:rPr sz="1800" b="0" i="0">
                <a:solidFill>
                  <a:srgbClr val="222222"/>
                </a:solidFill>
                <a:latin typeface="Calibri"/>
              </a:rPr>
              <a:t>Gini(t) = 1 − Σ p_i²; splits chosen to maximise the decrease ΔGini.</a:t>
            </a:r>
          </a:p>
          <a:p>
            <a:pPr>
              <a:spcAft>
                <a:spcPts val="900"/>
              </a:spcAft>
            </a:pPr>
            <a:r>
              <a:rPr sz="1800" b="1">
                <a:solidFill>
                  <a:srgbClr val="299BD6"/>
                </a:solidFill>
              </a:rPr>
              <a:t>●  </a:t>
            </a:r>
            <a:r>
              <a:rPr sz="1800" b="1" i="0">
                <a:solidFill>
                  <a:srgbClr val="222222"/>
                </a:solidFill>
                <a:latin typeface="Calibri"/>
              </a:rPr>
              <a:t>Ensemble prediction: </a:t>
            </a:r>
            <a:r>
              <a:rPr sz="1800" b="0" i="0">
                <a:solidFill>
                  <a:srgbClr val="222222"/>
                </a:solidFill>
                <a:latin typeface="Calibri"/>
              </a:rPr>
              <a:t>ŷ(x) = majority vote across all B trees.</a:t>
            </a:r>
          </a:p>
          <a:p>
            <a:pPr>
              <a:spcAft>
                <a:spcPts val="900"/>
              </a:spcAft>
            </a:pPr>
            <a:r>
              <a:rPr sz="1800" b="1">
                <a:solidFill>
                  <a:srgbClr val="299BD6"/>
                </a:solidFill>
              </a:rPr>
              <a:t>●  </a:t>
            </a:r>
            <a:r>
              <a:rPr sz="1800" b="1" i="0">
                <a:solidFill>
                  <a:srgbClr val="222222"/>
                </a:solidFill>
                <a:latin typeface="Calibri"/>
              </a:rPr>
              <a:t>Out-of-bag error: </a:t>
            </a:r>
            <a:r>
              <a:rPr sz="1800" b="0" i="0">
                <a:solidFill>
                  <a:srgbClr val="222222"/>
                </a:solidFill>
                <a:latin typeface="Calibri"/>
              </a:rPr>
              <a:t>~36.8% of rows excluded from each bootstrap sample give a free, near-unbiased validation estimate.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256032" y="256032"/>
            <a:ext cx="11679631" cy="6345936"/>
          </a:xfrm>
          <a:prstGeom prst="rect">
            <a:avLst/>
          </a:prstGeom>
          <a:noFill/>
          <a:ln w="22225">
            <a:solidFill>
              <a:srgbClr val="C059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6032" y="6217920"/>
            <a:ext cx="11679631" cy="384048"/>
          </a:xfrm>
          <a:prstGeom prst="rect">
            <a:avLst/>
          </a:prstGeom>
          <a:solidFill>
            <a:srgbClr val="C05911"/>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100" b="1">
                <a:solidFill>
                  <a:srgbClr val="FFFFFF"/>
                </a:solidFill>
              </a:rPr>
              <a:t>Advanced Machine Learning — Course Work Two</a:t>
            </a:r>
          </a:p>
        </p:txBody>
      </p:sp>
      <p:sp>
        <p:nvSpPr>
          <p:cNvPr id="4" name="TextBox 3"/>
          <p:cNvSpPr txBox="1"/>
          <p:nvPr/>
        </p:nvSpPr>
        <p:spPr>
          <a:xfrm>
            <a:off x="9923983" y="6217920"/>
            <a:ext cx="1828800" cy="384048"/>
          </a:xfrm>
          <a:prstGeom prst="rect">
            <a:avLst/>
          </a:prstGeom>
          <a:noFill/>
        </p:spPr>
        <p:txBody>
          <a:bodyPr wrap="none" anchor="ctr">
            <a:spAutoFit/>
          </a:bodyPr>
          <a:lstStyle/>
          <a:p>
            <a:pPr algn="r"/>
            <a:r>
              <a:rPr sz="1100" b="1">
                <a:solidFill>
                  <a:srgbClr val="FFFFFF"/>
                </a:solidFill>
              </a:rPr>
              <a:t>12/08/2026</a:t>
            </a:r>
          </a:p>
        </p:txBody>
      </p:sp>
      <p:sp>
        <p:nvSpPr>
          <p:cNvPr id="5" name="TextBox 4"/>
          <p:cNvSpPr txBox="1"/>
          <p:nvPr/>
        </p:nvSpPr>
        <p:spPr>
          <a:xfrm>
            <a:off x="502920" y="292608"/>
            <a:ext cx="11185855" cy="777240"/>
          </a:xfrm>
          <a:prstGeom prst="rect">
            <a:avLst/>
          </a:prstGeom>
          <a:noFill/>
        </p:spPr>
        <p:txBody>
          <a:bodyPr wrap="square">
            <a:spAutoFit/>
          </a:bodyPr>
          <a:lstStyle/>
          <a:p>
            <a:pPr algn="ctr"/>
            <a:r>
              <a:rPr sz="2700" b="1">
                <a:solidFill>
                  <a:srgbClr val="C05911"/>
                </a:solidFill>
                <a:latin typeface="Calibri"/>
              </a:rPr>
              <a:t>Task 6: Mathematics of Support Vector Machine</a:t>
            </a:r>
          </a:p>
        </p:txBody>
      </p:sp>
      <p:cxnSp>
        <p:nvCxnSpPr>
          <p:cNvPr id="6" name="Connector 5"/>
          <p:cNvCxnSpPr/>
          <p:nvPr/>
        </p:nvCxnSpPr>
        <p:spPr>
          <a:xfrm>
            <a:off x="914400" y="1097280"/>
            <a:ext cx="10362895" cy="0"/>
          </a:xfrm>
          <a:prstGeom prst="line">
            <a:avLst/>
          </a:prstGeom>
          <a:ln w="12700">
            <a:solidFill>
              <a:srgbClr val="C05911"/>
            </a:solidFill>
            <a:prstDash val="dash"/>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5912967" y="914400"/>
            <a:ext cx="365760" cy="365760"/>
          </a:xfrm>
          <a:prstGeom prst="ellipse">
            <a:avLst/>
          </a:prstGeom>
          <a:solidFill>
            <a:srgbClr val="FFFFFF"/>
          </a:solidFill>
          <a:ln w="15875">
            <a:solidFill>
              <a:srgbClr val="C0591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C05911"/>
                </a:solidFill>
              </a:rPr>
              <a:t>22</a:t>
            </a:r>
          </a:p>
        </p:txBody>
      </p:sp>
      <p:sp>
        <p:nvSpPr>
          <p:cNvPr id="8" name="TextBox 7"/>
          <p:cNvSpPr txBox="1"/>
          <p:nvPr/>
        </p:nvSpPr>
        <p:spPr>
          <a:xfrm>
            <a:off x="594360" y="1298448"/>
            <a:ext cx="11002975" cy="4846320"/>
          </a:xfrm>
          <a:prstGeom prst="rect">
            <a:avLst/>
          </a:prstGeom>
          <a:noFill/>
        </p:spPr>
        <p:txBody>
          <a:bodyPr wrap="square">
            <a:spAutoFit/>
          </a:bodyPr>
          <a:lstStyle/>
          <a:p>
            <a:pPr>
              <a:spcAft>
                <a:spcPts val="900"/>
              </a:spcAft>
            </a:pPr>
            <a:r>
              <a:rPr sz="1800" b="1">
                <a:solidFill>
                  <a:srgbClr val="299BD6"/>
                </a:solidFill>
              </a:rPr>
              <a:t>●  </a:t>
            </a:r>
            <a:r>
              <a:rPr sz="1800" b="1" i="0">
                <a:solidFill>
                  <a:srgbClr val="222222"/>
                </a:solidFill>
                <a:latin typeface="Calibri"/>
              </a:rPr>
              <a:t>Soft-margin primal: </a:t>
            </a:r>
            <a:r>
              <a:rPr sz="1800" b="0" i="0">
                <a:solidFill>
                  <a:srgbClr val="222222"/>
                </a:solidFill>
                <a:latin typeface="Calibri"/>
              </a:rPr>
              <a:t>minimise ½‖w‖² + CΣξ_i, subject to y_i(w·x_i+b) ≥ 1−ξ_i — the margin-vs-error trade-off.</a:t>
            </a:r>
          </a:p>
          <a:p>
            <a:pPr>
              <a:spcAft>
                <a:spcPts val="900"/>
              </a:spcAft>
            </a:pPr>
            <a:r>
              <a:rPr sz="1800" b="1">
                <a:solidFill>
                  <a:srgbClr val="299BD6"/>
                </a:solidFill>
              </a:rPr>
              <a:t>●  </a:t>
            </a:r>
            <a:r>
              <a:rPr sz="1800" b="1" i="0">
                <a:solidFill>
                  <a:srgbClr val="222222"/>
                </a:solidFill>
                <a:latin typeface="Calibri"/>
              </a:rPr>
              <a:t>Lagrangian dual: </a:t>
            </a:r>
            <a:r>
              <a:rPr sz="1800" b="0" i="0">
                <a:solidFill>
                  <a:srgbClr val="222222"/>
                </a:solidFill>
                <a:latin typeface="Calibri"/>
              </a:rPr>
              <a:t>depends on the data only through inner products x_i·x_j — the property that enables the kernel trick.</a:t>
            </a:r>
          </a:p>
          <a:p>
            <a:pPr>
              <a:spcAft>
                <a:spcPts val="900"/>
              </a:spcAft>
            </a:pPr>
            <a:r>
              <a:rPr sz="1800" b="1">
                <a:solidFill>
                  <a:srgbClr val="299BD6"/>
                </a:solidFill>
              </a:rPr>
              <a:t>●  </a:t>
            </a:r>
            <a:r>
              <a:rPr sz="1800" b="1" i="0">
                <a:solidFill>
                  <a:srgbClr val="222222"/>
                </a:solidFill>
                <a:latin typeface="Calibri"/>
              </a:rPr>
              <a:t>KKT conditions: </a:t>
            </a:r>
            <a:r>
              <a:rPr sz="1800" b="0" i="0">
                <a:solidFill>
                  <a:srgbClr val="222222"/>
                </a:solidFill>
                <a:latin typeface="Calibri"/>
              </a:rPr>
              <a:t>only points with α_i &gt; 0 — the support vectors — determine the boundary.</a:t>
            </a:r>
          </a:p>
          <a:p>
            <a:pPr>
              <a:spcAft>
                <a:spcPts val="900"/>
              </a:spcAft>
            </a:pPr>
            <a:r>
              <a:rPr sz="1800" b="1">
                <a:solidFill>
                  <a:srgbClr val="299BD6"/>
                </a:solidFill>
              </a:rPr>
              <a:t>●  </a:t>
            </a:r>
            <a:r>
              <a:rPr sz="1800" b="1" i="0">
                <a:solidFill>
                  <a:srgbClr val="222222"/>
                </a:solidFill>
                <a:latin typeface="Calibri"/>
              </a:rPr>
              <a:t>RBF kernel: </a:t>
            </a:r>
            <a:r>
              <a:rPr sz="1800" b="0" i="0">
                <a:solidFill>
                  <a:srgbClr val="222222"/>
                </a:solidFill>
                <a:latin typeface="Calibri"/>
              </a:rPr>
              <a:t>K(x,x′) = exp(−γ‖x−x′‖²) — an implicit, infinite-dimensional feature mapping, via Mercer's theorem.</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256032" y="256032"/>
            <a:ext cx="11679631" cy="6345936"/>
          </a:xfrm>
          <a:prstGeom prst="rect">
            <a:avLst/>
          </a:prstGeom>
          <a:noFill/>
          <a:ln w="22225">
            <a:solidFill>
              <a:srgbClr val="C059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6032" y="6217920"/>
            <a:ext cx="11679631" cy="384048"/>
          </a:xfrm>
          <a:prstGeom prst="rect">
            <a:avLst/>
          </a:prstGeom>
          <a:solidFill>
            <a:srgbClr val="C05911"/>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100" b="1">
                <a:solidFill>
                  <a:srgbClr val="FFFFFF"/>
                </a:solidFill>
              </a:rPr>
              <a:t>Advanced Machine Learning — Course Work Two</a:t>
            </a:r>
          </a:p>
        </p:txBody>
      </p:sp>
      <p:sp>
        <p:nvSpPr>
          <p:cNvPr id="4" name="TextBox 3"/>
          <p:cNvSpPr txBox="1"/>
          <p:nvPr/>
        </p:nvSpPr>
        <p:spPr>
          <a:xfrm>
            <a:off x="9923983" y="6217920"/>
            <a:ext cx="1828800" cy="384048"/>
          </a:xfrm>
          <a:prstGeom prst="rect">
            <a:avLst/>
          </a:prstGeom>
          <a:noFill/>
        </p:spPr>
        <p:txBody>
          <a:bodyPr wrap="none" anchor="ctr">
            <a:spAutoFit/>
          </a:bodyPr>
          <a:lstStyle/>
          <a:p>
            <a:pPr algn="r"/>
            <a:r>
              <a:rPr sz="1100" b="1">
                <a:solidFill>
                  <a:srgbClr val="FFFFFF"/>
                </a:solidFill>
              </a:rPr>
              <a:t>12/08/2026</a:t>
            </a:r>
          </a:p>
        </p:txBody>
      </p:sp>
      <p:sp>
        <p:nvSpPr>
          <p:cNvPr id="5" name="TextBox 4"/>
          <p:cNvSpPr txBox="1"/>
          <p:nvPr/>
        </p:nvSpPr>
        <p:spPr>
          <a:xfrm>
            <a:off x="502920" y="292608"/>
            <a:ext cx="11185855" cy="777240"/>
          </a:xfrm>
          <a:prstGeom prst="rect">
            <a:avLst/>
          </a:prstGeom>
          <a:noFill/>
        </p:spPr>
        <p:txBody>
          <a:bodyPr wrap="square">
            <a:spAutoFit/>
          </a:bodyPr>
          <a:lstStyle/>
          <a:p>
            <a:pPr algn="ctr"/>
            <a:r>
              <a:rPr sz="2700" b="1">
                <a:solidFill>
                  <a:srgbClr val="C05911"/>
                </a:solidFill>
                <a:latin typeface="Calibri"/>
              </a:rPr>
              <a:t>Task 7: Mathematical Enhancements in the Literature (Part 1)</a:t>
            </a:r>
          </a:p>
        </p:txBody>
      </p:sp>
      <p:cxnSp>
        <p:nvCxnSpPr>
          <p:cNvPr id="6" name="Connector 5"/>
          <p:cNvCxnSpPr/>
          <p:nvPr/>
        </p:nvCxnSpPr>
        <p:spPr>
          <a:xfrm>
            <a:off x="914400" y="1097280"/>
            <a:ext cx="10362895" cy="0"/>
          </a:xfrm>
          <a:prstGeom prst="line">
            <a:avLst/>
          </a:prstGeom>
          <a:ln w="12700">
            <a:solidFill>
              <a:srgbClr val="C05911"/>
            </a:solidFill>
            <a:prstDash val="dash"/>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5912967" y="914400"/>
            <a:ext cx="365760" cy="365760"/>
          </a:xfrm>
          <a:prstGeom prst="ellipse">
            <a:avLst/>
          </a:prstGeom>
          <a:solidFill>
            <a:srgbClr val="FFFFFF"/>
          </a:solidFill>
          <a:ln w="15875">
            <a:solidFill>
              <a:srgbClr val="C0591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C05911"/>
                </a:solidFill>
              </a:rPr>
              <a:t>23</a:t>
            </a:r>
          </a:p>
        </p:txBody>
      </p:sp>
      <p:sp>
        <p:nvSpPr>
          <p:cNvPr id="8" name="TextBox 7"/>
          <p:cNvSpPr txBox="1"/>
          <p:nvPr/>
        </p:nvSpPr>
        <p:spPr>
          <a:xfrm>
            <a:off x="594360" y="1298448"/>
            <a:ext cx="11002975" cy="4846320"/>
          </a:xfrm>
          <a:prstGeom prst="rect">
            <a:avLst/>
          </a:prstGeom>
          <a:noFill/>
        </p:spPr>
        <p:txBody>
          <a:bodyPr wrap="square">
            <a:spAutoFit/>
          </a:bodyPr>
          <a:lstStyle/>
          <a:p>
            <a:pPr>
              <a:spcAft>
                <a:spcPts val="900"/>
              </a:spcAft>
            </a:pPr>
            <a:r>
              <a:rPr sz="1800" b="1">
                <a:solidFill>
                  <a:srgbClr val="299BD6"/>
                </a:solidFill>
              </a:rPr>
              <a:t>●  </a:t>
            </a:r>
            <a:r>
              <a:rPr sz="1800" b="1" i="0">
                <a:solidFill>
                  <a:srgbClr val="222222"/>
                </a:solidFill>
                <a:latin typeface="Calibri"/>
              </a:rPr>
              <a:t>Bişkin (2026) — Class-conditional ensemble fusion: </a:t>
            </a:r>
            <a:r>
              <a:rPr sz="1800" b="0" i="0">
                <a:solidFill>
                  <a:srgbClr val="222222"/>
                </a:solidFill>
                <a:latin typeface="Calibri"/>
              </a:rPr>
              <a:t>p̃(x) = p̂(x) + β·p_e(c)(x) raised accuracy from 99.16% to 99.60% on a Uganda coffee dataset.</a:t>
            </a:r>
          </a:p>
          <a:p>
            <a:pPr>
              <a:spcAft>
                <a:spcPts val="900"/>
              </a:spcAft>
            </a:pPr>
            <a:r>
              <a:rPr sz="1800" b="1">
                <a:solidFill>
                  <a:srgbClr val="299BD6"/>
                </a:solidFill>
              </a:rPr>
              <a:t>●  </a:t>
            </a:r>
            <a:r>
              <a:rPr sz="1800" b="1" i="0">
                <a:solidFill>
                  <a:srgbClr val="222222"/>
                </a:solidFill>
                <a:latin typeface="Calibri"/>
              </a:rPr>
              <a:t>Centroid-based loss reweighting (2025): </a:t>
            </a:r>
            <a:r>
              <a:rPr sz="1800" b="0" i="0">
                <a:solidFill>
                  <a:srgbClr val="222222"/>
                </a:solidFill>
                <a:latin typeface="Calibri"/>
              </a:rPr>
              <a:t>sinusoidal sample weighting by distance-from-class-centroid gave +2.28% accuracy, +4.06% F1.</a:t>
            </a:r>
          </a:p>
          <a:p>
            <a:pPr>
              <a:spcAft>
                <a:spcPts val="900"/>
              </a:spcAft>
            </a:pPr>
            <a:r>
              <a:rPr sz="1800" b="1">
                <a:solidFill>
                  <a:srgbClr val="299BD6"/>
                </a:solidFill>
              </a:rPr>
              <a:t>●  </a:t>
            </a:r>
            <a:r>
              <a:rPr sz="1800" b="1" i="0">
                <a:solidFill>
                  <a:srgbClr val="222222"/>
                </a:solidFill>
                <a:latin typeface="Calibri"/>
              </a:rPr>
              <a:t>Ardah et al. (2025) — Multi-kernel SVM + statistical feature selection: </a:t>
            </a:r>
            <a:r>
              <a:rPr sz="1800" b="0" i="0">
                <a:solidFill>
                  <a:srgbClr val="222222"/>
                </a:solidFill>
                <a:latin typeface="Calibri"/>
              </a:rPr>
              <a:t>99.78% binary accuracy, but only 91.86% multiclass — direct evidence for Gap 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256032" y="256032"/>
            <a:ext cx="11679631" cy="6345936"/>
          </a:xfrm>
          <a:prstGeom prst="rect">
            <a:avLst/>
          </a:prstGeom>
          <a:noFill/>
          <a:ln w="22225">
            <a:solidFill>
              <a:srgbClr val="C059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6032" y="6217920"/>
            <a:ext cx="11679631" cy="384048"/>
          </a:xfrm>
          <a:prstGeom prst="rect">
            <a:avLst/>
          </a:prstGeom>
          <a:solidFill>
            <a:srgbClr val="C05911"/>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100" b="1">
                <a:solidFill>
                  <a:srgbClr val="FFFFFF"/>
                </a:solidFill>
              </a:rPr>
              <a:t>Advanced Machine Learning — Course Work Two</a:t>
            </a:r>
          </a:p>
        </p:txBody>
      </p:sp>
      <p:sp>
        <p:nvSpPr>
          <p:cNvPr id="4" name="TextBox 3"/>
          <p:cNvSpPr txBox="1"/>
          <p:nvPr/>
        </p:nvSpPr>
        <p:spPr>
          <a:xfrm>
            <a:off x="9923983" y="6217920"/>
            <a:ext cx="1828800" cy="384048"/>
          </a:xfrm>
          <a:prstGeom prst="rect">
            <a:avLst/>
          </a:prstGeom>
          <a:noFill/>
        </p:spPr>
        <p:txBody>
          <a:bodyPr wrap="none" anchor="ctr">
            <a:spAutoFit/>
          </a:bodyPr>
          <a:lstStyle/>
          <a:p>
            <a:pPr algn="r"/>
            <a:r>
              <a:rPr sz="1100" b="1">
                <a:solidFill>
                  <a:srgbClr val="FFFFFF"/>
                </a:solidFill>
              </a:rPr>
              <a:t>12/08/2026</a:t>
            </a:r>
          </a:p>
        </p:txBody>
      </p:sp>
      <p:sp>
        <p:nvSpPr>
          <p:cNvPr id="5" name="TextBox 4"/>
          <p:cNvSpPr txBox="1"/>
          <p:nvPr/>
        </p:nvSpPr>
        <p:spPr>
          <a:xfrm>
            <a:off x="502920" y="292608"/>
            <a:ext cx="11185855" cy="777240"/>
          </a:xfrm>
          <a:prstGeom prst="rect">
            <a:avLst/>
          </a:prstGeom>
          <a:noFill/>
        </p:spPr>
        <p:txBody>
          <a:bodyPr wrap="square">
            <a:spAutoFit/>
          </a:bodyPr>
          <a:lstStyle/>
          <a:p>
            <a:pPr algn="ctr"/>
            <a:r>
              <a:rPr sz="2700" b="1">
                <a:solidFill>
                  <a:srgbClr val="C05911"/>
                </a:solidFill>
                <a:latin typeface="Calibri"/>
              </a:rPr>
              <a:t>Task 7: Mathematical Enhancements in the Literature (Part 2)</a:t>
            </a:r>
          </a:p>
        </p:txBody>
      </p:sp>
      <p:cxnSp>
        <p:nvCxnSpPr>
          <p:cNvPr id="6" name="Connector 5"/>
          <p:cNvCxnSpPr/>
          <p:nvPr/>
        </p:nvCxnSpPr>
        <p:spPr>
          <a:xfrm>
            <a:off x="914400" y="1097280"/>
            <a:ext cx="10362895" cy="0"/>
          </a:xfrm>
          <a:prstGeom prst="line">
            <a:avLst/>
          </a:prstGeom>
          <a:ln w="12700">
            <a:solidFill>
              <a:srgbClr val="C05911"/>
            </a:solidFill>
            <a:prstDash val="dash"/>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5912967" y="914400"/>
            <a:ext cx="365760" cy="365760"/>
          </a:xfrm>
          <a:prstGeom prst="ellipse">
            <a:avLst/>
          </a:prstGeom>
          <a:solidFill>
            <a:srgbClr val="FFFFFF"/>
          </a:solidFill>
          <a:ln w="15875">
            <a:solidFill>
              <a:srgbClr val="C0591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C05911"/>
                </a:solidFill>
              </a:rPr>
              <a:t>24</a:t>
            </a:r>
          </a:p>
        </p:txBody>
      </p:sp>
      <p:sp>
        <p:nvSpPr>
          <p:cNvPr id="8" name="TextBox 7"/>
          <p:cNvSpPr txBox="1"/>
          <p:nvPr/>
        </p:nvSpPr>
        <p:spPr>
          <a:xfrm>
            <a:off x="594360" y="1298448"/>
            <a:ext cx="11002975" cy="4846320"/>
          </a:xfrm>
          <a:prstGeom prst="rect">
            <a:avLst/>
          </a:prstGeom>
          <a:noFill/>
        </p:spPr>
        <p:txBody>
          <a:bodyPr wrap="square">
            <a:spAutoFit/>
          </a:bodyPr>
          <a:lstStyle/>
          <a:p>
            <a:pPr>
              <a:spcAft>
                <a:spcPts val="900"/>
              </a:spcAft>
            </a:pPr>
            <a:r>
              <a:rPr sz="1700" b="1">
                <a:solidFill>
                  <a:srgbClr val="299BD6"/>
                </a:solidFill>
              </a:rPr>
              <a:t>●  </a:t>
            </a:r>
            <a:r>
              <a:rPr sz="1700" b="1" i="0">
                <a:solidFill>
                  <a:srgbClr val="222222"/>
                </a:solidFill>
                <a:latin typeface="Calibri"/>
              </a:rPr>
              <a:t>Santhosh et al. (2025): </a:t>
            </a:r>
            <a:r>
              <a:rPr sz="1700" b="0" i="0">
                <a:solidFill>
                  <a:srgbClr val="222222"/>
                </a:solidFill>
                <a:latin typeface="Calibri"/>
              </a:rPr>
              <a:t>explicit Random Forest, Extra Trees and Gradient Boosting mathematics for coffee agronomy — and cites Uganda yield-gap data directly.</a:t>
            </a:r>
          </a:p>
          <a:p>
            <a:pPr>
              <a:spcAft>
                <a:spcPts val="900"/>
              </a:spcAft>
            </a:pPr>
            <a:r>
              <a:rPr sz="1700" b="1">
                <a:solidFill>
                  <a:srgbClr val="299BD6"/>
                </a:solidFill>
              </a:rPr>
              <a:t>●  </a:t>
            </a:r>
            <a:r>
              <a:rPr sz="1700" b="1" i="0">
                <a:solidFill>
                  <a:srgbClr val="222222"/>
                </a:solidFill>
                <a:latin typeface="Calibri"/>
              </a:rPr>
              <a:t>Novtahaning et al. (2022): </a:t>
            </a:r>
            <a:r>
              <a:rPr sz="1700" b="0" i="0">
                <a:solidFill>
                  <a:srgbClr val="222222"/>
                </a:solidFill>
                <a:latin typeface="Calibri"/>
              </a:rPr>
              <a:t>confidence-weighted deep ensemble f(Y) = Σ w_k·f_k(Y) — structurally identical to Task 4's proposal, weighted differently.</a:t>
            </a:r>
          </a:p>
          <a:p>
            <a:pPr>
              <a:spcAft>
                <a:spcPts val="900"/>
              </a:spcAft>
            </a:pPr>
            <a:r>
              <a:rPr sz="1700" b="1">
                <a:solidFill>
                  <a:srgbClr val="299BD6"/>
                </a:solidFill>
              </a:rPr>
              <a:t>●  </a:t>
            </a:r>
            <a:r>
              <a:rPr sz="1700" b="1" i="0">
                <a:solidFill>
                  <a:srgbClr val="222222"/>
                </a:solidFill>
                <a:latin typeface="Calibri"/>
              </a:rPr>
              <a:t>Kulkarni et al. (2025): </a:t>
            </a:r>
            <a:r>
              <a:rPr sz="1700" b="0" i="0">
                <a:solidFill>
                  <a:srgbClr val="222222"/>
                </a:solidFill>
                <a:latin typeface="Calibri"/>
              </a:rPr>
              <a:t>Quantum Fourier Transform replaces the RBF kernel — 98.87% accuracy with 150× fewer parameters.</a:t>
            </a:r>
          </a:p>
          <a:p>
            <a:pPr>
              <a:spcAft>
                <a:spcPts val="400"/>
              </a:spcAft>
            </a:pPr>
          </a:p>
          <a:p>
            <a:pPr>
              <a:spcAft>
                <a:spcPts val="900"/>
              </a:spcAft>
            </a:pPr>
            <a:r>
              <a:rPr sz="1700" b="1">
                <a:solidFill>
                  <a:srgbClr val="299BD6"/>
                </a:solidFill>
              </a:rPr>
              <a:t>●  </a:t>
            </a:r>
            <a:r>
              <a:rPr sz="1700" b="1" i="1">
                <a:solidFill>
                  <a:srgbClr val="C05911"/>
                </a:solidFill>
                <a:latin typeface="Calibri"/>
              </a:rPr>
              <a:t>Synthesis: </a:t>
            </a:r>
            <a:r>
              <a:rPr sz="1700" b="0" i="0">
                <a:solidFill>
                  <a:srgbClr val="222222"/>
                </a:solidFill>
                <a:latin typeface="Calibri"/>
              </a:rPr>
              <a:t>every enhancement either reweights learner/sample contributions, or extends the kernel/split mechanism — Task 4's proposal deliberately combines both patterns, applied to classical models instead of CNNs.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256032" y="256032"/>
            <a:ext cx="11679631" cy="6345936"/>
          </a:xfrm>
          <a:prstGeom prst="rect">
            <a:avLst/>
          </a:prstGeom>
          <a:noFill/>
          <a:ln w="22225">
            <a:solidFill>
              <a:srgbClr val="C059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6032" y="6217920"/>
            <a:ext cx="11679631" cy="384048"/>
          </a:xfrm>
          <a:prstGeom prst="rect">
            <a:avLst/>
          </a:prstGeom>
          <a:solidFill>
            <a:srgbClr val="C05911"/>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100" b="1">
                <a:solidFill>
                  <a:srgbClr val="FFFFFF"/>
                </a:solidFill>
              </a:rPr>
              <a:t>Advanced Machine Learning — Course Work Two</a:t>
            </a:r>
          </a:p>
        </p:txBody>
      </p:sp>
      <p:sp>
        <p:nvSpPr>
          <p:cNvPr id="4" name="TextBox 3"/>
          <p:cNvSpPr txBox="1"/>
          <p:nvPr/>
        </p:nvSpPr>
        <p:spPr>
          <a:xfrm>
            <a:off x="9923983" y="6217920"/>
            <a:ext cx="1828800" cy="384048"/>
          </a:xfrm>
          <a:prstGeom prst="rect">
            <a:avLst/>
          </a:prstGeom>
          <a:noFill/>
        </p:spPr>
        <p:txBody>
          <a:bodyPr wrap="none" anchor="ctr">
            <a:spAutoFit/>
          </a:bodyPr>
          <a:lstStyle/>
          <a:p>
            <a:pPr algn="r"/>
            <a:r>
              <a:rPr sz="1100" b="1">
                <a:solidFill>
                  <a:srgbClr val="FFFFFF"/>
                </a:solidFill>
              </a:rPr>
              <a:t>12/08/2026</a:t>
            </a:r>
          </a:p>
        </p:txBody>
      </p:sp>
      <p:sp>
        <p:nvSpPr>
          <p:cNvPr id="5" name="TextBox 4"/>
          <p:cNvSpPr txBox="1"/>
          <p:nvPr/>
        </p:nvSpPr>
        <p:spPr>
          <a:xfrm>
            <a:off x="502920" y="292608"/>
            <a:ext cx="11185855" cy="777240"/>
          </a:xfrm>
          <a:prstGeom prst="rect">
            <a:avLst/>
          </a:prstGeom>
          <a:noFill/>
        </p:spPr>
        <p:txBody>
          <a:bodyPr wrap="square">
            <a:spAutoFit/>
          </a:bodyPr>
          <a:lstStyle/>
          <a:p>
            <a:pPr algn="ctr"/>
            <a:r>
              <a:rPr sz="2700" b="1">
                <a:solidFill>
                  <a:srgbClr val="C05911"/>
                </a:solidFill>
                <a:latin typeface="Calibri"/>
              </a:rPr>
              <a:t>Critical Reflection and Limitations</a:t>
            </a:r>
          </a:p>
        </p:txBody>
      </p:sp>
      <p:cxnSp>
        <p:nvCxnSpPr>
          <p:cNvPr id="6" name="Connector 5"/>
          <p:cNvCxnSpPr/>
          <p:nvPr/>
        </p:nvCxnSpPr>
        <p:spPr>
          <a:xfrm>
            <a:off x="914400" y="1097280"/>
            <a:ext cx="10362895" cy="0"/>
          </a:xfrm>
          <a:prstGeom prst="line">
            <a:avLst/>
          </a:prstGeom>
          <a:ln w="12700">
            <a:solidFill>
              <a:srgbClr val="C05911"/>
            </a:solidFill>
            <a:prstDash val="dash"/>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5912967" y="914400"/>
            <a:ext cx="365760" cy="365760"/>
          </a:xfrm>
          <a:prstGeom prst="ellipse">
            <a:avLst/>
          </a:prstGeom>
          <a:solidFill>
            <a:srgbClr val="FFFFFF"/>
          </a:solidFill>
          <a:ln w="15875">
            <a:solidFill>
              <a:srgbClr val="C0591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C05911"/>
                </a:solidFill>
              </a:rPr>
              <a:t>25</a:t>
            </a:r>
          </a:p>
        </p:txBody>
      </p:sp>
      <p:sp>
        <p:nvSpPr>
          <p:cNvPr id="8" name="TextBox 7"/>
          <p:cNvSpPr txBox="1"/>
          <p:nvPr/>
        </p:nvSpPr>
        <p:spPr>
          <a:xfrm>
            <a:off x="594360" y="1298448"/>
            <a:ext cx="11002975" cy="4846320"/>
          </a:xfrm>
          <a:prstGeom prst="rect">
            <a:avLst/>
          </a:prstGeom>
          <a:noFill/>
        </p:spPr>
        <p:txBody>
          <a:bodyPr wrap="square">
            <a:spAutoFit/>
          </a:bodyPr>
          <a:lstStyle/>
          <a:p>
            <a:pPr>
              <a:spcAft>
                <a:spcPts val="900"/>
              </a:spcAft>
            </a:pPr>
            <a:r>
              <a:rPr sz="1800" b="1">
                <a:solidFill>
                  <a:srgbClr val="299BD6"/>
                </a:solidFill>
              </a:rPr>
              <a:t>●  </a:t>
            </a:r>
            <a:r>
              <a:rPr sz="1800" b="1" i="0">
                <a:solidFill>
                  <a:srgbClr val="222222"/>
                </a:solidFill>
                <a:latin typeface="Calibri"/>
              </a:rPr>
              <a:t>Accuracy trade-off: </a:t>
            </a:r>
            <a:r>
              <a:rPr sz="1800" b="0" i="0">
                <a:solidFill>
                  <a:srgbClr val="222222"/>
                </a:solidFill>
                <a:latin typeface="Calibri"/>
              </a:rPr>
              <a:t>RF/SVM trail the best deep models by ~4–6 points — an acceptable price for interpretability, but not yet empirically settled.</a:t>
            </a:r>
          </a:p>
          <a:p>
            <a:pPr>
              <a:spcAft>
                <a:spcPts val="900"/>
              </a:spcAft>
            </a:pPr>
            <a:r>
              <a:rPr sz="1800" b="1">
                <a:solidFill>
                  <a:srgbClr val="299BD6"/>
                </a:solidFill>
              </a:rPr>
              <a:t>●  </a:t>
            </a:r>
            <a:r>
              <a:rPr sz="1800" b="1" i="0">
                <a:solidFill>
                  <a:srgbClr val="222222"/>
                </a:solidFill>
                <a:latin typeface="Calibri"/>
              </a:rPr>
              <a:t>Dataset provenance: </a:t>
            </a:r>
            <a:r>
              <a:rPr sz="1800" b="0" i="0">
                <a:solidFill>
                  <a:srgbClr val="222222"/>
                </a:solidFill>
                <a:latin typeface="Calibri"/>
              </a:rPr>
              <a:t>no image used in Tasks 2 or 3 was collected in Uganda — RoCoLe and JMuBEN are the closest available proxies.</a:t>
            </a:r>
          </a:p>
          <a:p>
            <a:pPr>
              <a:spcAft>
                <a:spcPts val="900"/>
              </a:spcAft>
            </a:pPr>
            <a:r>
              <a:rPr sz="1800" b="1">
                <a:solidFill>
                  <a:srgbClr val="299BD6"/>
                </a:solidFill>
              </a:rPr>
              <a:t>●  </a:t>
            </a:r>
            <a:r>
              <a:rPr sz="1800" b="1" i="0">
                <a:solidFill>
                  <a:srgbClr val="222222"/>
                </a:solidFill>
                <a:latin typeface="Calibri"/>
              </a:rPr>
              <a:t>Replication status: </a:t>
            </a:r>
            <a:r>
              <a:rPr sz="1800" b="0" i="0">
                <a:solidFill>
                  <a:srgbClr val="222222"/>
                </a:solidFill>
                <a:latin typeface="Calibri"/>
              </a:rPr>
              <a:t>Task 3's results depend on executing the accompanying Colab notebook — a constraint of the coursework medium.</a:t>
            </a:r>
          </a:p>
          <a:p>
            <a:pPr>
              <a:spcAft>
                <a:spcPts val="900"/>
              </a:spcAft>
            </a:pPr>
            <a:r>
              <a:rPr sz="1800" b="1">
                <a:solidFill>
                  <a:srgbClr val="299BD6"/>
                </a:solidFill>
              </a:rPr>
              <a:t>●  </a:t>
            </a:r>
            <a:r>
              <a:rPr sz="1800" b="1" i="0">
                <a:solidFill>
                  <a:srgbClr val="222222"/>
                </a:solidFill>
                <a:latin typeface="Calibri"/>
              </a:rPr>
              <a:t>Proposed ensemble: </a:t>
            </a:r>
            <a:r>
              <a:rPr sz="1800" b="0" i="0">
                <a:solidFill>
                  <a:srgbClr val="222222"/>
                </a:solidFill>
                <a:latin typeface="Calibri"/>
              </a:rPr>
              <a:t>a mathematically-motivated design, not yet empirically validated — that validation is the core objective of the Task 5 research proposal.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256032" y="256032"/>
            <a:ext cx="11679631" cy="6345936"/>
          </a:xfrm>
          <a:prstGeom prst="rect">
            <a:avLst/>
          </a:prstGeom>
          <a:noFill/>
          <a:ln w="22225">
            <a:solidFill>
              <a:srgbClr val="C059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6032" y="6217920"/>
            <a:ext cx="11679631" cy="384048"/>
          </a:xfrm>
          <a:prstGeom prst="rect">
            <a:avLst/>
          </a:prstGeom>
          <a:solidFill>
            <a:srgbClr val="C05911"/>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100" b="1">
                <a:solidFill>
                  <a:srgbClr val="FFFFFF"/>
                </a:solidFill>
              </a:rPr>
              <a:t>Advanced Machine Learning — Course Work Two</a:t>
            </a:r>
          </a:p>
        </p:txBody>
      </p:sp>
      <p:sp>
        <p:nvSpPr>
          <p:cNvPr id="4" name="TextBox 3"/>
          <p:cNvSpPr txBox="1"/>
          <p:nvPr/>
        </p:nvSpPr>
        <p:spPr>
          <a:xfrm>
            <a:off x="9923983" y="6217920"/>
            <a:ext cx="1828800" cy="384048"/>
          </a:xfrm>
          <a:prstGeom prst="rect">
            <a:avLst/>
          </a:prstGeom>
          <a:noFill/>
        </p:spPr>
        <p:txBody>
          <a:bodyPr wrap="none" anchor="ctr">
            <a:spAutoFit/>
          </a:bodyPr>
          <a:lstStyle/>
          <a:p>
            <a:pPr algn="r"/>
            <a:r>
              <a:rPr sz="1100" b="1">
                <a:solidFill>
                  <a:srgbClr val="FFFFFF"/>
                </a:solidFill>
              </a:rPr>
              <a:t>12/08/2026</a:t>
            </a:r>
          </a:p>
        </p:txBody>
      </p:sp>
      <p:sp>
        <p:nvSpPr>
          <p:cNvPr id="5" name="TextBox 4"/>
          <p:cNvSpPr txBox="1"/>
          <p:nvPr/>
        </p:nvSpPr>
        <p:spPr>
          <a:xfrm>
            <a:off x="502920" y="292608"/>
            <a:ext cx="11185855" cy="777240"/>
          </a:xfrm>
          <a:prstGeom prst="rect">
            <a:avLst/>
          </a:prstGeom>
          <a:noFill/>
        </p:spPr>
        <p:txBody>
          <a:bodyPr wrap="square">
            <a:spAutoFit/>
          </a:bodyPr>
          <a:lstStyle/>
          <a:p>
            <a:pPr algn="ctr"/>
            <a:r>
              <a:rPr sz="2700" b="1">
                <a:solidFill>
                  <a:srgbClr val="C05911"/>
                </a:solidFill>
                <a:latin typeface="Calibri"/>
              </a:rPr>
              <a:t>Conclusion</a:t>
            </a:r>
          </a:p>
        </p:txBody>
      </p:sp>
      <p:cxnSp>
        <p:nvCxnSpPr>
          <p:cNvPr id="6" name="Connector 5"/>
          <p:cNvCxnSpPr/>
          <p:nvPr/>
        </p:nvCxnSpPr>
        <p:spPr>
          <a:xfrm>
            <a:off x="914400" y="1097280"/>
            <a:ext cx="10362895" cy="0"/>
          </a:xfrm>
          <a:prstGeom prst="line">
            <a:avLst/>
          </a:prstGeom>
          <a:ln w="12700">
            <a:solidFill>
              <a:srgbClr val="C05911"/>
            </a:solidFill>
            <a:prstDash val="dash"/>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5912967" y="914400"/>
            <a:ext cx="365760" cy="365760"/>
          </a:xfrm>
          <a:prstGeom prst="ellipse">
            <a:avLst/>
          </a:prstGeom>
          <a:solidFill>
            <a:srgbClr val="FFFFFF"/>
          </a:solidFill>
          <a:ln w="15875">
            <a:solidFill>
              <a:srgbClr val="C0591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C05911"/>
                </a:solidFill>
              </a:rPr>
              <a:t>26</a:t>
            </a:r>
          </a:p>
        </p:txBody>
      </p:sp>
      <p:sp>
        <p:nvSpPr>
          <p:cNvPr id="8" name="TextBox 7"/>
          <p:cNvSpPr txBox="1"/>
          <p:nvPr/>
        </p:nvSpPr>
        <p:spPr>
          <a:xfrm>
            <a:off x="594360" y="1298448"/>
            <a:ext cx="11002975" cy="4846320"/>
          </a:xfrm>
          <a:prstGeom prst="rect">
            <a:avLst/>
          </a:prstGeom>
          <a:noFill/>
        </p:spPr>
        <p:txBody>
          <a:bodyPr wrap="square">
            <a:spAutoFit/>
          </a:bodyPr>
          <a:lstStyle/>
          <a:p>
            <a:pPr>
              <a:spcAft>
                <a:spcPts val="900"/>
              </a:spcAft>
            </a:pPr>
            <a:r>
              <a:rPr sz="1900" b="1">
                <a:solidFill>
                  <a:srgbClr val="299BD6"/>
                </a:solidFill>
              </a:rPr>
              <a:t>●  </a:t>
            </a:r>
            <a:r>
              <a:rPr sz="1900" b="0" i="0">
                <a:solidFill>
                  <a:srgbClr val="222222"/>
                </a:solidFill>
                <a:latin typeface="Calibri"/>
              </a:rPr>
              <a:t>Random Forest and SVM offer an interpretable, low-resource pathway to coffee leaf disease diagnosis for Uganda's smallholder farmers.</a:t>
            </a:r>
          </a:p>
          <a:p>
            <a:pPr>
              <a:spcAft>
                <a:spcPts val="900"/>
              </a:spcAft>
            </a:pPr>
            <a:r>
              <a:rPr sz="1900" b="1">
                <a:solidFill>
                  <a:srgbClr val="299BD6"/>
                </a:solidFill>
              </a:rPr>
              <a:t>●  </a:t>
            </a:r>
            <a:r>
              <a:rPr sz="1900" b="0" i="0">
                <a:solidFill>
                  <a:srgbClr val="222222"/>
                </a:solidFill>
                <a:latin typeface="Calibri"/>
              </a:rPr>
              <a:t>A complete pipeline was implemented and documented: feature engineering, model training, mathematical derivation, and a replicated published benchmark.</a:t>
            </a:r>
          </a:p>
          <a:p>
            <a:pPr>
              <a:spcAft>
                <a:spcPts val="900"/>
              </a:spcAft>
            </a:pPr>
            <a:r>
              <a:rPr sz="1900" b="1">
                <a:solidFill>
                  <a:srgbClr val="299BD6"/>
                </a:solidFill>
              </a:rPr>
              <a:t>●  </a:t>
            </a:r>
            <a:r>
              <a:rPr sz="1900" b="0" i="0">
                <a:solidFill>
                  <a:srgbClr val="222222"/>
                </a:solidFill>
                <a:latin typeface="Calibri"/>
              </a:rPr>
              <a:t>A concrete, mathematically-grounded research gap was identified, and a Master's-level research topic formulated to close it.</a:t>
            </a:r>
          </a:p>
          <a:p>
            <a:pPr>
              <a:spcAft>
                <a:spcPts val="400"/>
              </a:spcAft>
            </a:pPr>
          </a:p>
          <a:p>
            <a:pPr>
              <a:spcAft>
                <a:spcPts val="900"/>
              </a:spcAft>
            </a:pPr>
            <a:r>
              <a:rPr sz="1900" b="1">
                <a:solidFill>
                  <a:srgbClr val="299BD6"/>
                </a:solidFill>
              </a:rPr>
              <a:t>●  </a:t>
            </a:r>
            <a:r>
              <a:rPr sz="1900" b="1" i="1">
                <a:solidFill>
                  <a:srgbClr val="C05911"/>
                </a:solidFill>
                <a:latin typeface="Calibri"/>
              </a:rPr>
              <a:t>This coursework is a template, not a finished product </a:t>
            </a:r>
            <a:r>
              <a:rPr sz="1900" b="0" i="0">
                <a:solidFill>
                  <a:srgbClr val="222222"/>
                </a:solidFill>
                <a:latin typeface="Calibri"/>
              </a:rPr>
              <a:t>— its next step is empirical validation using genuinely Ugandan field data.</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256032" y="256032"/>
            <a:ext cx="11679631" cy="6345936"/>
          </a:xfrm>
          <a:prstGeom prst="rect">
            <a:avLst/>
          </a:prstGeom>
          <a:noFill/>
          <a:ln w="22225">
            <a:solidFill>
              <a:srgbClr val="C059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6032" y="6217920"/>
            <a:ext cx="11679631" cy="384048"/>
          </a:xfrm>
          <a:prstGeom prst="rect">
            <a:avLst/>
          </a:prstGeom>
          <a:solidFill>
            <a:srgbClr val="C05911"/>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100" b="1">
                <a:solidFill>
                  <a:srgbClr val="FFFFFF"/>
                </a:solidFill>
              </a:rPr>
              <a:t>Advanced Machine Learning — Course Work Two</a:t>
            </a:r>
          </a:p>
        </p:txBody>
      </p:sp>
      <p:sp>
        <p:nvSpPr>
          <p:cNvPr id="4" name="TextBox 3"/>
          <p:cNvSpPr txBox="1"/>
          <p:nvPr/>
        </p:nvSpPr>
        <p:spPr>
          <a:xfrm>
            <a:off x="9923983" y="6217920"/>
            <a:ext cx="1828800" cy="384048"/>
          </a:xfrm>
          <a:prstGeom prst="rect">
            <a:avLst/>
          </a:prstGeom>
          <a:noFill/>
        </p:spPr>
        <p:txBody>
          <a:bodyPr wrap="none" anchor="ctr">
            <a:spAutoFit/>
          </a:bodyPr>
          <a:lstStyle/>
          <a:p>
            <a:pPr algn="r"/>
            <a:r>
              <a:rPr sz="1100" b="1">
                <a:solidFill>
                  <a:srgbClr val="FFFFFF"/>
                </a:solidFill>
              </a:rPr>
              <a:t>12/08/2026</a:t>
            </a:r>
          </a:p>
        </p:txBody>
      </p:sp>
      <p:sp>
        <p:nvSpPr>
          <p:cNvPr id="5" name="TextBox 4"/>
          <p:cNvSpPr txBox="1"/>
          <p:nvPr/>
        </p:nvSpPr>
        <p:spPr>
          <a:xfrm>
            <a:off x="914400" y="2468880"/>
            <a:ext cx="10362895" cy="1097280"/>
          </a:xfrm>
          <a:prstGeom prst="rect">
            <a:avLst/>
          </a:prstGeom>
          <a:noFill/>
        </p:spPr>
        <p:txBody>
          <a:bodyPr wrap="none">
            <a:spAutoFit/>
          </a:bodyPr>
          <a:lstStyle/>
          <a:p>
            <a:pPr algn="ctr"/>
            <a:r>
              <a:rPr sz="4400" b="1">
                <a:solidFill>
                  <a:srgbClr val="C05911"/>
                </a:solidFill>
              </a:rPr>
              <a:t>Thank You</a:t>
            </a:r>
          </a:p>
        </p:txBody>
      </p:sp>
      <p:sp>
        <p:nvSpPr>
          <p:cNvPr id="6" name="TextBox 5"/>
          <p:cNvSpPr txBox="1"/>
          <p:nvPr/>
        </p:nvSpPr>
        <p:spPr>
          <a:xfrm>
            <a:off x="1371600" y="3566160"/>
            <a:ext cx="9448495" cy="1280160"/>
          </a:xfrm>
          <a:prstGeom prst="rect">
            <a:avLst/>
          </a:prstGeom>
          <a:noFill/>
        </p:spPr>
        <p:txBody>
          <a:bodyPr wrap="square">
            <a:spAutoFit/>
          </a:bodyPr>
          <a:lstStyle/>
          <a:p>
            <a:pPr algn="ctr"/>
            <a:r>
              <a:rPr sz="2200" i="1">
                <a:solidFill>
                  <a:srgbClr val="222222"/>
                </a:solidFill>
              </a:rPr>
              <a:t>Questions and Discussion</a:t>
            </a:r>
          </a:p>
          <a:p>
            <a:pPr algn="ctr">
              <a:spcBef>
                <a:spcPts val="1400"/>
              </a:spcBef>
            </a:pPr>
            <a:r>
              <a:rPr sz="1300">
                <a:solidFill>
                  <a:srgbClr val="222222"/>
                </a:solidFill>
              </a:rPr>
              <a:t>Coffee Leaf Disease Classification and Identification — Advanced Machine Learning, Course Work Two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